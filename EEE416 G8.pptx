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nva Sans Bold" panose="020B0604020202020204" charset="0"/>
      <p:regular r:id="rId19"/>
    </p:embeddedFont>
    <p:embeddedFont>
      <p:font typeface="Poppins Medium" panose="020B0604020202020204" charset="0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Roboto" panose="020B0604020202020204" charset="0"/>
      <p:regular r:id="rId25"/>
    </p:embeddedFont>
    <p:embeddedFont>
      <p:font typeface="Barlow Semi-Bold" panose="020B0604020202020204" charset="0"/>
      <p:regular r:id="rId26"/>
    </p:embeddedFont>
    <p:embeddedFont>
      <p:font typeface="HK Grotesk Semi-Bold" panose="020B0604020202020204" charset="0"/>
      <p:regular r:id="rId27"/>
    </p:embeddedFont>
    <p:embeddedFont>
      <p:font typeface="Lato Bold" panose="020B0604020202020204" charset="0"/>
      <p:regular r:id="rId28"/>
    </p:embeddedFont>
    <p:embeddedFont>
      <p:font typeface="Canva Sans Medium" panose="020B0604020202020204" charset="0"/>
      <p:regular r:id="rId29"/>
    </p:embeddedFont>
    <p:embeddedFont>
      <p:font typeface="Arial Bold" panose="020B0704020202020204" pitchFamily="34" charset="0"/>
      <p:bold r:id="rId30"/>
    </p:embeddedFont>
    <p:embeddedFont>
      <p:font typeface="Century Gothic Paneuropean" panose="020B0604020202020204" charset="0"/>
      <p:regular r:id="rId31"/>
    </p:embeddedFont>
    <p:embeddedFont>
      <p:font typeface="Canva Sans" panose="020B0604020202020204" charset="0"/>
      <p:regular r:id="rId32"/>
    </p:embeddedFont>
    <p:embeddedFont>
      <p:font typeface="Century Gothic Paneuropean Bold" panose="020B0604020202020204" charset="0"/>
      <p:regular r:id="rId33"/>
    </p:embeddedFont>
    <p:embeddedFont>
      <p:font typeface="Poppins Bold" panose="020B0604020202020204" charset="0"/>
      <p:regular r:id="rId34"/>
    </p:embeddedFont>
    <p:embeddedFont>
      <p:font typeface="HK Grotesk Medium" panose="020B0604020202020204" charset="0"/>
      <p:regular r:id="rId35"/>
    </p:embeddedFont>
    <p:embeddedFont>
      <p:font typeface="Arial Italics" panose="020B0604020202020204" charset="0"/>
      <p:regular r:id="rId36"/>
    </p:embeddedFont>
    <p:embeddedFont>
      <p:font typeface="Barlow Light" panose="020B0604020202020204" charset="0"/>
      <p:regular r:id="rId37"/>
    </p:embeddedFont>
    <p:embeddedFont>
      <p:font typeface="Roboto Bold" panose="020B060402020202020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9" Type="http://schemas.openxmlformats.org/officeDocument/2006/relationships/presProps" Target="presProp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font" Target="fonts/font19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font" Target="fonts/font20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jpeg"/><Relationship Id="rId7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2.jpe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image" Target="../media/image3.jpe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3.jpe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1.png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76686" y="9685782"/>
            <a:ext cx="572043" cy="529466"/>
          </a:xfrm>
          <a:custGeom>
            <a:avLst/>
            <a:gdLst/>
            <a:ahLst/>
            <a:cxnLst/>
            <a:rect l="l" t="t" r="r" b="b"/>
            <a:pathLst>
              <a:path w="572043" h="529466">
                <a:moveTo>
                  <a:pt x="0" y="0"/>
                </a:moveTo>
                <a:lnTo>
                  <a:pt x="572043" y="0"/>
                </a:lnTo>
                <a:lnTo>
                  <a:pt x="572043" y="529466"/>
                </a:lnTo>
                <a:lnTo>
                  <a:pt x="0" y="529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l="-245025" r="-24502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0"/>
            <a:ext cx="18288000" cy="2343436"/>
            <a:chOff x="0" y="0"/>
            <a:chExt cx="24384000" cy="312458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384000" cy="3124581"/>
            </a:xfrm>
            <a:custGeom>
              <a:avLst/>
              <a:gdLst/>
              <a:ahLst/>
              <a:cxnLst/>
              <a:rect l="l" t="t" r="r" b="b"/>
              <a:pathLst>
                <a:path w="24384000" h="3124581">
                  <a:moveTo>
                    <a:pt x="0" y="0"/>
                  </a:moveTo>
                  <a:lnTo>
                    <a:pt x="24384000" y="0"/>
                  </a:lnTo>
                  <a:lnTo>
                    <a:pt x="24384000" y="3124581"/>
                  </a:lnTo>
                  <a:lnTo>
                    <a:pt x="0" y="3124581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0" y="-21431"/>
            <a:ext cx="18288000" cy="2364829"/>
            <a:chOff x="0" y="0"/>
            <a:chExt cx="24384000" cy="315310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4000" cy="3153106"/>
            </a:xfrm>
            <a:custGeom>
              <a:avLst/>
              <a:gdLst/>
              <a:ahLst/>
              <a:cxnLst/>
              <a:rect l="l" t="t" r="r" b="b"/>
              <a:pathLst>
                <a:path w="24384000" h="3153106">
                  <a:moveTo>
                    <a:pt x="0" y="0"/>
                  </a:moveTo>
                  <a:lnTo>
                    <a:pt x="24384000" y="0"/>
                  </a:lnTo>
                  <a:lnTo>
                    <a:pt x="24384000" y="3153106"/>
                  </a:lnTo>
                  <a:lnTo>
                    <a:pt x="0" y="31531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0684" b="-1006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24384000" cy="3181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EEE 416 – Microprocessor and Embedded Systems Laboratory</a:t>
              </a:r>
            </a:p>
            <a:p>
              <a:pPr algn="ctr">
                <a:lnSpc>
                  <a:spcPts val="5040"/>
                </a:lnSpc>
              </a:pPr>
              <a:r>
                <a:rPr lang="en-US" sz="42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Jan 2026 Level-4 Term-I Section A2</a:t>
              </a:r>
            </a:p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Proposal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8952986"/>
            <a:ext cx="18288000" cy="1333976"/>
            <a:chOff x="0" y="0"/>
            <a:chExt cx="24384000" cy="17786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4000" cy="1778635"/>
            </a:xfrm>
            <a:custGeom>
              <a:avLst/>
              <a:gdLst/>
              <a:ahLst/>
              <a:cxnLst/>
              <a:rect l="l" t="t" r="r" b="b"/>
              <a:pathLst>
                <a:path w="24384000" h="1778635">
                  <a:moveTo>
                    <a:pt x="0" y="0"/>
                  </a:moveTo>
                  <a:lnTo>
                    <a:pt x="24384000" y="0"/>
                  </a:lnTo>
                  <a:lnTo>
                    <a:pt x="24384000" y="1778635"/>
                  </a:lnTo>
                  <a:lnTo>
                    <a:pt x="0" y="1778635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0" y="8938698"/>
            <a:ext cx="18288000" cy="1348302"/>
            <a:chOff x="0" y="0"/>
            <a:chExt cx="24384000" cy="17977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0" cy="1797735"/>
            </a:xfrm>
            <a:custGeom>
              <a:avLst/>
              <a:gdLst/>
              <a:ahLst/>
              <a:cxnLst/>
              <a:rect l="l" t="t" r="r" b="b"/>
              <a:pathLst>
                <a:path w="24384000" h="1797735">
                  <a:moveTo>
                    <a:pt x="0" y="0"/>
                  </a:moveTo>
                  <a:lnTo>
                    <a:pt x="24384000" y="0"/>
                  </a:lnTo>
                  <a:lnTo>
                    <a:pt x="24384000" y="1797735"/>
                  </a:lnTo>
                  <a:lnTo>
                    <a:pt x="0" y="17977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4289" b="-214289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4384000" cy="1816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spc="24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Bangladesh University of Engineering and Technology</a:t>
              </a:r>
            </a:p>
            <a:p>
              <a:pPr algn="ctr">
                <a:lnSpc>
                  <a:spcPts val="3240"/>
                </a:lnSpc>
              </a:pPr>
              <a:r>
                <a:rPr lang="en-US" sz="2700" spc="24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Department of Electrical and Electronic Engineering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657913" y="2663962"/>
            <a:ext cx="13602881" cy="2370611"/>
            <a:chOff x="0" y="0"/>
            <a:chExt cx="18137175" cy="316081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137124" cy="3160776"/>
            </a:xfrm>
            <a:custGeom>
              <a:avLst/>
              <a:gdLst/>
              <a:ahLst/>
              <a:cxnLst/>
              <a:rect l="l" t="t" r="r" b="b"/>
              <a:pathLst>
                <a:path w="18137124" h="3160776">
                  <a:moveTo>
                    <a:pt x="0" y="0"/>
                  </a:moveTo>
                  <a:lnTo>
                    <a:pt x="18137124" y="0"/>
                  </a:lnTo>
                  <a:lnTo>
                    <a:pt x="18137124" y="3160776"/>
                  </a:lnTo>
                  <a:lnTo>
                    <a:pt x="0" y="31607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1730" b="-61731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657913" y="2763974"/>
            <a:ext cx="13602881" cy="2692812"/>
            <a:chOff x="0" y="0"/>
            <a:chExt cx="18137175" cy="359041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8137175" cy="3590417"/>
            </a:xfrm>
            <a:custGeom>
              <a:avLst/>
              <a:gdLst/>
              <a:ahLst/>
              <a:cxnLst/>
              <a:rect l="l" t="t" r="r" b="b"/>
              <a:pathLst>
                <a:path w="18137175" h="3590417">
                  <a:moveTo>
                    <a:pt x="0" y="0"/>
                  </a:moveTo>
                  <a:lnTo>
                    <a:pt x="18137175" y="0"/>
                  </a:lnTo>
                  <a:lnTo>
                    <a:pt x="18137175" y="3590417"/>
                  </a:lnTo>
                  <a:lnTo>
                    <a:pt x="0" y="359041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6269" b="-4059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133350"/>
              <a:ext cx="18137175" cy="34570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8067"/>
                </a:lnSpc>
              </a:pPr>
              <a:r>
                <a:rPr lang="en-US" sz="8100" spc="-15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AI Driven Bangla Braille Learning Device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00951" y="6393417"/>
            <a:ext cx="394616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sz="2724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Santu Nag</a:t>
            </a:r>
          </a:p>
          <a:p>
            <a:pPr algn="ctr">
              <a:lnSpc>
                <a:spcPts val="3269"/>
              </a:lnSpc>
            </a:pPr>
            <a:r>
              <a:rPr lang="en-US" sz="2724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2106055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56320" y="6393417"/>
            <a:ext cx="4610781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Md. Adib Hasan Audhi</a:t>
            </a:r>
          </a:p>
          <a:p>
            <a:pPr algn="ctr">
              <a:lnSpc>
                <a:spcPts val="3264"/>
              </a:lnSpc>
            </a:pPr>
            <a:r>
              <a:rPr lang="en-US" sz="2720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2106055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1" y="6393417"/>
            <a:ext cx="4802169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Mishat Hasan Milon</a:t>
            </a:r>
          </a:p>
          <a:p>
            <a:pPr algn="ctr">
              <a:lnSpc>
                <a:spcPts val="3264"/>
              </a:lnSpc>
            </a:pPr>
            <a:r>
              <a:rPr lang="en-US" sz="2720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2106059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663839" y="6393417"/>
            <a:ext cx="3342837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2720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Khalid Mehebub</a:t>
            </a:r>
          </a:p>
          <a:p>
            <a:pPr algn="ctr">
              <a:lnSpc>
                <a:spcPts val="3264"/>
              </a:lnSpc>
            </a:pPr>
            <a:r>
              <a:rPr lang="en-US" sz="2720" spc="1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2106065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18232" y="5377948"/>
            <a:ext cx="4367422" cy="362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spc="12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Submitted by – Group 08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2910376" y="8446770"/>
            <a:ext cx="3167824" cy="342900"/>
            <a:chOff x="0" y="0"/>
            <a:chExt cx="4223766" cy="457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223766" cy="457200"/>
            </a:xfrm>
            <a:custGeom>
              <a:avLst/>
              <a:gdLst/>
              <a:ahLst/>
              <a:cxnLst/>
              <a:rect l="l" t="t" r="r" b="b"/>
              <a:pathLst>
                <a:path w="4223766" h="457200">
                  <a:moveTo>
                    <a:pt x="0" y="0"/>
                  </a:moveTo>
                  <a:lnTo>
                    <a:pt x="4223766" y="0"/>
                  </a:lnTo>
                  <a:lnTo>
                    <a:pt x="422376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29883" b="-129883"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12910376" y="8446770"/>
            <a:ext cx="3167824" cy="342900"/>
            <a:chOff x="0" y="0"/>
            <a:chExt cx="4223766" cy="457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223765" cy="457200"/>
            </a:xfrm>
            <a:custGeom>
              <a:avLst/>
              <a:gdLst/>
              <a:ahLst/>
              <a:cxnLst/>
              <a:rect l="l" t="t" r="r" b="b"/>
              <a:pathLst>
                <a:path w="4223765" h="457200">
                  <a:moveTo>
                    <a:pt x="0" y="0"/>
                  </a:moveTo>
                  <a:lnTo>
                    <a:pt x="4223765" y="0"/>
                  </a:lnTo>
                  <a:lnTo>
                    <a:pt x="4223765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30009" b="-13000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4223766" cy="45720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2520"/>
                </a:lnSpc>
              </a:pPr>
              <a:r>
                <a:rPr lang="en-US" sz="2100" b="1" dirty="0">
                  <a:solidFill>
                    <a:srgbClr val="40404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" y="80653"/>
            <a:ext cx="18119434" cy="9605129"/>
          </a:xfrm>
          <a:custGeom>
            <a:avLst/>
            <a:gdLst/>
            <a:ahLst/>
            <a:cxnLst/>
            <a:rect l="l" t="t" r="r" b="b"/>
            <a:pathLst>
              <a:path w="18119434" h="9605129">
                <a:moveTo>
                  <a:pt x="0" y="0"/>
                </a:moveTo>
                <a:lnTo>
                  <a:pt x="18119434" y="0"/>
                </a:lnTo>
                <a:lnTo>
                  <a:pt x="18119434" y="9605129"/>
                </a:lnTo>
                <a:lnTo>
                  <a:pt x="0" y="96051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07" b="-622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3019" y="9749894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57491" y="9812155"/>
            <a:ext cx="3630509" cy="366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2289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64639" y="66675"/>
            <a:ext cx="18004900" cy="9519720"/>
          </a:xfrm>
          <a:custGeom>
            <a:avLst/>
            <a:gdLst/>
            <a:ahLst/>
            <a:cxnLst/>
            <a:rect l="l" t="t" r="r" b="b"/>
            <a:pathLst>
              <a:path w="18004900" h="9519720">
                <a:moveTo>
                  <a:pt x="0" y="0"/>
                </a:moveTo>
                <a:lnTo>
                  <a:pt x="18004900" y="0"/>
                </a:lnTo>
                <a:lnTo>
                  <a:pt x="18004900" y="9519720"/>
                </a:lnTo>
                <a:lnTo>
                  <a:pt x="0" y="9519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9" r="-160" b="-6599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3019" y="9749894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61137" y="9781025"/>
            <a:ext cx="3346765" cy="366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2289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64639" y="173956"/>
            <a:ext cx="18071387" cy="9346209"/>
          </a:xfrm>
          <a:custGeom>
            <a:avLst/>
            <a:gdLst/>
            <a:ahLst/>
            <a:cxnLst/>
            <a:rect l="l" t="t" r="r" b="b"/>
            <a:pathLst>
              <a:path w="18071387" h="9346209">
                <a:moveTo>
                  <a:pt x="0" y="0"/>
                </a:moveTo>
                <a:lnTo>
                  <a:pt x="18071388" y="0"/>
                </a:lnTo>
                <a:lnTo>
                  <a:pt x="18071388" y="9346210"/>
                </a:lnTo>
                <a:lnTo>
                  <a:pt x="0" y="9346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58" b="-780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83019" y="9749894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18881" y="9781025"/>
            <a:ext cx="3917146" cy="366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2289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54"/>
            <a:chOff x="0" y="0"/>
            <a:chExt cx="24384000" cy="8263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3940" cy="617060"/>
            </a:xfrm>
            <a:custGeom>
              <a:avLst/>
              <a:gdLst/>
              <a:ahLst/>
              <a:cxnLst/>
              <a:rect l="l" t="t" r="r" b="b"/>
              <a:pathLst>
                <a:path w="1043940" h="617060">
                  <a:moveTo>
                    <a:pt x="0" y="0"/>
                  </a:moveTo>
                  <a:lnTo>
                    <a:pt x="1043940" y="0"/>
                  </a:lnTo>
                  <a:lnTo>
                    <a:pt x="1043940" y="617060"/>
                  </a:lnTo>
                  <a:lnTo>
                    <a:pt x="0" y="6170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38" r="-25838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043940" cy="61705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r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7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350887" y="9760015"/>
            <a:ext cx="518128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320546" y="1586274"/>
            <a:ext cx="15087600" cy="1093508"/>
            <a:chOff x="0" y="0"/>
            <a:chExt cx="20116800" cy="14580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116800" cy="1458012"/>
            </a:xfrm>
            <a:custGeom>
              <a:avLst/>
              <a:gdLst/>
              <a:ahLst/>
              <a:cxnLst/>
              <a:rect l="l" t="t" r="r" b="b"/>
              <a:pathLst>
                <a:path w="20116800" h="1458012">
                  <a:moveTo>
                    <a:pt x="0" y="0"/>
                  </a:moveTo>
                  <a:lnTo>
                    <a:pt x="20116800" y="0"/>
                  </a:lnTo>
                  <a:lnTo>
                    <a:pt x="20116800" y="1458012"/>
                  </a:lnTo>
                  <a:lnTo>
                    <a:pt x="0" y="1458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8843" b="-21884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38100"/>
              <a:ext cx="20116800" cy="14199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86"/>
                </a:lnSpc>
              </a:pPr>
              <a:r>
                <a:rPr lang="en-US" sz="5265" b="1">
                  <a:solidFill>
                    <a:srgbClr val="2626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Haptic Teaching Module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07240" y="470497"/>
            <a:ext cx="15087600" cy="1367669"/>
            <a:chOff x="0" y="0"/>
            <a:chExt cx="20116800" cy="18235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116800" cy="1823560"/>
            </a:xfrm>
            <a:custGeom>
              <a:avLst/>
              <a:gdLst/>
              <a:ahLst/>
              <a:cxnLst/>
              <a:rect l="l" t="t" r="r" b="b"/>
              <a:pathLst>
                <a:path w="20116800" h="1823560">
                  <a:moveTo>
                    <a:pt x="0" y="0"/>
                  </a:moveTo>
                  <a:lnTo>
                    <a:pt x="20116800" y="0"/>
                  </a:lnTo>
                  <a:lnTo>
                    <a:pt x="20116800" y="1823560"/>
                  </a:lnTo>
                  <a:lnTo>
                    <a:pt x="0" y="1823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4974" b="-154928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38100"/>
              <a:ext cx="20116800" cy="17854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4. Methodology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02949" y="2425808"/>
            <a:ext cx="8096431" cy="6383731"/>
            <a:chOff x="0" y="0"/>
            <a:chExt cx="10795241" cy="85116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95254" cy="8511667"/>
            </a:xfrm>
            <a:custGeom>
              <a:avLst/>
              <a:gdLst/>
              <a:ahLst/>
              <a:cxnLst/>
              <a:rect l="l" t="t" r="r" b="b"/>
              <a:pathLst>
                <a:path w="10795254" h="8511667">
                  <a:moveTo>
                    <a:pt x="0" y="0"/>
                  </a:moveTo>
                  <a:lnTo>
                    <a:pt x="10795254" y="0"/>
                  </a:lnTo>
                  <a:lnTo>
                    <a:pt x="10795254" y="8511667"/>
                  </a:lnTo>
                  <a:lnTo>
                    <a:pt x="0" y="8511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2351" t="-9105" r="-9700" b="-16504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398680" y="2878112"/>
            <a:ext cx="8151390" cy="4682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Multisensory Learning:</a:t>
            </a:r>
          </a:p>
          <a:p>
            <a:pPr algn="l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Auditory Pathway: ESP32 selects 	a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letter and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commands the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DFPlayer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module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to play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corresponding audio prompt.</a:t>
            </a:r>
          </a:p>
          <a:p>
            <a:pPr algn="just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ii. Haptic Pathway: ESP32 triggers the 	motor driver circuit to activate the 	combination of six 1030 coin vibration 	motors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9244" y="9750552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54"/>
            <a:chOff x="0" y="0"/>
            <a:chExt cx="24384000" cy="8263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20546" y="1586274"/>
            <a:ext cx="15087600" cy="1093508"/>
            <a:chOff x="0" y="0"/>
            <a:chExt cx="20116800" cy="14580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1458012"/>
            </a:xfrm>
            <a:custGeom>
              <a:avLst/>
              <a:gdLst/>
              <a:ahLst/>
              <a:cxnLst/>
              <a:rect l="l" t="t" r="r" b="b"/>
              <a:pathLst>
                <a:path w="20116800" h="1458012">
                  <a:moveTo>
                    <a:pt x="0" y="0"/>
                  </a:moveTo>
                  <a:lnTo>
                    <a:pt x="20116800" y="0"/>
                  </a:lnTo>
                  <a:lnTo>
                    <a:pt x="20116800" y="1458012"/>
                  </a:lnTo>
                  <a:lnTo>
                    <a:pt x="0" y="14580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8843" b="-218843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20116800" cy="14199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686"/>
                </a:lnSpc>
              </a:pPr>
              <a:r>
                <a:rPr lang="en-US" sz="5265" b="1">
                  <a:solidFill>
                    <a:srgbClr val="2626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Interactive Evaluation Module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21119" y="508597"/>
            <a:ext cx="15087600" cy="1367669"/>
            <a:chOff x="0" y="0"/>
            <a:chExt cx="20116800" cy="182355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116800" cy="1823560"/>
            </a:xfrm>
            <a:custGeom>
              <a:avLst/>
              <a:gdLst/>
              <a:ahLst/>
              <a:cxnLst/>
              <a:rect l="l" t="t" r="r" b="b"/>
              <a:pathLst>
                <a:path w="20116800" h="1823560">
                  <a:moveTo>
                    <a:pt x="0" y="0"/>
                  </a:moveTo>
                  <a:lnTo>
                    <a:pt x="20116800" y="0"/>
                  </a:lnTo>
                  <a:lnTo>
                    <a:pt x="20116800" y="1823560"/>
                  </a:lnTo>
                  <a:lnTo>
                    <a:pt x="0" y="18235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74974" b="-154928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38100"/>
              <a:ext cx="20116800" cy="17854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1424940" lvl="1" indent="-712470" algn="l">
                <a:lnSpc>
                  <a:spcPts val="7128"/>
                </a:lnSpc>
                <a:buAutoNum type="arabicPeriod"/>
              </a:pPr>
              <a:r>
                <a:rPr lang="en-US" sz="66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11986" y="2694842"/>
            <a:ext cx="8951214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Time Input &amp; Assessment:</a:t>
            </a:r>
          </a:p>
          <a:p>
            <a:pPr algn="l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Tactile Input Pathway: The learner 	presses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a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combination of keys on the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6- 	dot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button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matrix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enter a Braille chord.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The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ESP32	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latches this physical input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and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extracts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behavioral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features such as 	response time,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accuracy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retry count etc. </a:t>
            </a:r>
          </a:p>
          <a:p>
            <a:pPr algn="just">
              <a:lnSpc>
                <a:spcPts val="3600"/>
              </a:lnSpc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ts val="3600"/>
              </a:lnSpc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ii. Edge AI and Logging: ESP32 processes 	the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user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and logs the attempt accuracy and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features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as response time, retry count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etc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to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CSV file via the </a:t>
            </a:r>
            <a:r>
              <a:rPr lang="en-US" sz="3000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microSD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module to </a:t>
            </a:r>
            <a:r>
              <a:rPr lang="en-US" sz="30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evaluate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learning 	process.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914089" y="1491444"/>
            <a:ext cx="5490581" cy="7512796"/>
            <a:chOff x="0" y="0"/>
            <a:chExt cx="7320775" cy="100170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320788" cy="10016998"/>
            </a:xfrm>
            <a:custGeom>
              <a:avLst/>
              <a:gdLst/>
              <a:ahLst/>
              <a:cxnLst/>
              <a:rect l="l" t="t" r="r" b="b"/>
              <a:pathLst>
                <a:path w="7320788" h="10016998">
                  <a:moveTo>
                    <a:pt x="0" y="0"/>
                  </a:moveTo>
                  <a:lnTo>
                    <a:pt x="7320788" y="0"/>
                  </a:lnTo>
                  <a:lnTo>
                    <a:pt x="7320788" y="10016998"/>
                  </a:lnTo>
                  <a:lnTo>
                    <a:pt x="0" y="10016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387" t="-2707" r="-36908" b="-379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3846080" y="9743246"/>
            <a:ext cx="518128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2686" y="9733407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97249" y="689572"/>
            <a:ext cx="15087600" cy="1093508"/>
            <a:chOff x="0" y="0"/>
            <a:chExt cx="20116800" cy="14580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1457960"/>
            </a:xfrm>
            <a:custGeom>
              <a:avLst/>
              <a:gdLst/>
              <a:ahLst/>
              <a:cxnLst/>
              <a:rect l="l" t="t" r="r" b="b"/>
              <a:pathLst>
                <a:path w="20116800" h="1457960">
                  <a:moveTo>
                    <a:pt x="0" y="0"/>
                  </a:moveTo>
                  <a:lnTo>
                    <a:pt x="20116800" y="0"/>
                  </a:lnTo>
                  <a:lnTo>
                    <a:pt x="20116800" y="1457960"/>
                  </a:lnTo>
                  <a:lnTo>
                    <a:pt x="0" y="1457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8663" b="-21866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97249" y="718147"/>
            <a:ext cx="15087600" cy="1367669"/>
            <a:chOff x="0" y="0"/>
            <a:chExt cx="20116800" cy="18235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16800" cy="1823559"/>
            </a:xfrm>
            <a:custGeom>
              <a:avLst/>
              <a:gdLst/>
              <a:ahLst/>
              <a:cxnLst/>
              <a:rect l="l" t="t" r="r" b="b"/>
              <a:pathLst>
                <a:path w="20116800" h="1823559">
                  <a:moveTo>
                    <a:pt x="0" y="0"/>
                  </a:moveTo>
                  <a:lnTo>
                    <a:pt x="20116800" y="0"/>
                  </a:lnTo>
                  <a:lnTo>
                    <a:pt x="20116800" y="1823559"/>
                  </a:lnTo>
                  <a:lnTo>
                    <a:pt x="0" y="1823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019" b="-15388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20116800" cy="17854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5. Real time Operational Workflow 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2847754" y="3961362"/>
            <a:ext cx="589067" cy="619276"/>
          </a:xfrm>
          <a:custGeom>
            <a:avLst/>
            <a:gdLst/>
            <a:ahLst/>
            <a:cxnLst/>
            <a:rect l="l" t="t" r="r" b="b"/>
            <a:pathLst>
              <a:path w="589067" h="619276">
                <a:moveTo>
                  <a:pt x="0" y="0"/>
                </a:moveTo>
                <a:lnTo>
                  <a:pt x="589067" y="0"/>
                </a:lnTo>
                <a:lnTo>
                  <a:pt x="589067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325690" y="4821894"/>
            <a:ext cx="1824115" cy="43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SIMULATION</a:t>
            </a:r>
          </a:p>
        </p:txBody>
      </p:sp>
      <p:sp>
        <p:nvSpPr>
          <p:cNvPr id="13" name="Freeform 13"/>
          <p:cNvSpPr/>
          <p:nvPr/>
        </p:nvSpPr>
        <p:spPr>
          <a:xfrm>
            <a:off x="5700316" y="3919542"/>
            <a:ext cx="785423" cy="619276"/>
          </a:xfrm>
          <a:custGeom>
            <a:avLst/>
            <a:gdLst/>
            <a:ahLst/>
            <a:cxnLst/>
            <a:rect l="l" t="t" r="r" b="b"/>
            <a:pathLst>
              <a:path w="785423" h="619276">
                <a:moveTo>
                  <a:pt x="0" y="0"/>
                </a:moveTo>
                <a:lnTo>
                  <a:pt x="785423" y="0"/>
                </a:lnTo>
                <a:lnTo>
                  <a:pt x="785423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5651801" y="4821894"/>
            <a:ext cx="1667876" cy="43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DATABASE</a:t>
            </a:r>
          </a:p>
        </p:txBody>
      </p:sp>
      <p:sp>
        <p:nvSpPr>
          <p:cNvPr id="15" name="Freeform 15"/>
          <p:cNvSpPr/>
          <p:nvPr/>
        </p:nvSpPr>
        <p:spPr>
          <a:xfrm>
            <a:off x="8967312" y="3888533"/>
            <a:ext cx="785423" cy="619276"/>
          </a:xfrm>
          <a:custGeom>
            <a:avLst/>
            <a:gdLst/>
            <a:ahLst/>
            <a:cxnLst/>
            <a:rect l="l" t="t" r="r" b="b"/>
            <a:pathLst>
              <a:path w="785423" h="619276">
                <a:moveTo>
                  <a:pt x="0" y="0"/>
                </a:moveTo>
                <a:lnTo>
                  <a:pt x="785423" y="0"/>
                </a:lnTo>
                <a:lnTo>
                  <a:pt x="785423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624324" y="4821894"/>
            <a:ext cx="2417809" cy="43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TINY ML-MODEL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386096" y="3837303"/>
            <a:ext cx="785423" cy="619276"/>
          </a:xfrm>
          <a:custGeom>
            <a:avLst/>
            <a:gdLst/>
            <a:ahLst/>
            <a:cxnLst/>
            <a:rect l="l" t="t" r="r" b="b"/>
            <a:pathLst>
              <a:path w="785423" h="619276">
                <a:moveTo>
                  <a:pt x="0" y="0"/>
                </a:moveTo>
                <a:lnTo>
                  <a:pt x="785424" y="0"/>
                </a:lnTo>
                <a:lnTo>
                  <a:pt x="785424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386096" y="4801673"/>
            <a:ext cx="1163289" cy="43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ESP-32</a:t>
            </a:r>
          </a:p>
        </p:txBody>
      </p:sp>
      <p:sp>
        <p:nvSpPr>
          <p:cNvPr id="19" name="Freeform 19"/>
          <p:cNvSpPr/>
          <p:nvPr/>
        </p:nvSpPr>
        <p:spPr>
          <a:xfrm>
            <a:off x="15351951" y="3874387"/>
            <a:ext cx="785423" cy="619276"/>
          </a:xfrm>
          <a:custGeom>
            <a:avLst/>
            <a:gdLst/>
            <a:ahLst/>
            <a:cxnLst/>
            <a:rect l="l" t="t" r="r" b="b"/>
            <a:pathLst>
              <a:path w="785423" h="619276">
                <a:moveTo>
                  <a:pt x="0" y="0"/>
                </a:moveTo>
                <a:lnTo>
                  <a:pt x="785423" y="0"/>
                </a:lnTo>
                <a:lnTo>
                  <a:pt x="785423" y="619276"/>
                </a:lnTo>
                <a:lnTo>
                  <a:pt x="0" y="6192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054336" y="4783639"/>
            <a:ext cx="1689721" cy="43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0"/>
              </a:lnSpc>
            </a:pPr>
            <a:r>
              <a:rPr lang="en-US" sz="2378" b="1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ANALYSIS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87620" y="3990035"/>
            <a:ext cx="154668" cy="40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6"/>
              </a:lnSpc>
            </a:pPr>
            <a:r>
              <a:rPr lang="en-US" sz="22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00227" y="3963319"/>
            <a:ext cx="185602" cy="40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6"/>
              </a:lnSpc>
            </a:pPr>
            <a:r>
              <a:rPr lang="en-US" sz="22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28556" y="3932310"/>
            <a:ext cx="185602" cy="40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6"/>
              </a:lnSpc>
            </a:pPr>
            <a:r>
              <a:rPr lang="en-US" sz="22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55074" y="3881080"/>
            <a:ext cx="185602" cy="40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6"/>
              </a:lnSpc>
            </a:pPr>
            <a:r>
              <a:rPr lang="en-US" sz="22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644128" y="3918164"/>
            <a:ext cx="185602" cy="403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6"/>
              </a:lnSpc>
            </a:pPr>
            <a:r>
              <a:rPr lang="en-US" sz="221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id="26" name="AutoShape 26"/>
          <p:cNvSpPr/>
          <p:nvPr/>
        </p:nvSpPr>
        <p:spPr>
          <a:xfrm flipV="1">
            <a:off x="2043237" y="5746329"/>
            <a:ext cx="1470081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7" name="TextBox 27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655142" y="9733407"/>
            <a:ext cx="4488109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00200" y="689572"/>
            <a:ext cx="15087600" cy="1093508"/>
            <a:chOff x="0" y="0"/>
            <a:chExt cx="20116800" cy="14580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1457960"/>
            </a:xfrm>
            <a:custGeom>
              <a:avLst/>
              <a:gdLst/>
              <a:ahLst/>
              <a:cxnLst/>
              <a:rect l="l" t="t" r="r" b="b"/>
              <a:pathLst>
                <a:path w="20116800" h="1457960">
                  <a:moveTo>
                    <a:pt x="0" y="0"/>
                  </a:moveTo>
                  <a:lnTo>
                    <a:pt x="20116800" y="0"/>
                  </a:lnTo>
                  <a:lnTo>
                    <a:pt x="20116800" y="1457960"/>
                  </a:lnTo>
                  <a:lnTo>
                    <a:pt x="0" y="1457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8663" b="-21866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760952" y="575689"/>
            <a:ext cx="8983330" cy="2272544"/>
            <a:chOff x="0" y="0"/>
            <a:chExt cx="11977773" cy="30300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77773" cy="3030059"/>
            </a:xfrm>
            <a:custGeom>
              <a:avLst/>
              <a:gdLst/>
              <a:ahLst/>
              <a:cxnLst/>
              <a:rect l="l" t="t" r="r" b="b"/>
              <a:pathLst>
                <a:path w="11977773" h="3030059">
                  <a:moveTo>
                    <a:pt x="0" y="0"/>
                  </a:moveTo>
                  <a:lnTo>
                    <a:pt x="11977773" y="0"/>
                  </a:lnTo>
                  <a:lnTo>
                    <a:pt x="11977773" y="3030059"/>
                  </a:lnTo>
                  <a:lnTo>
                    <a:pt x="0" y="30300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5932" r="-67951" b="-5279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11977773" cy="29919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 Simulation</a:t>
              </a:r>
            </a:p>
            <a:p>
              <a:pPr algn="l">
                <a:lnSpc>
                  <a:spcPts val="7128"/>
                </a:lnSpc>
              </a:pPr>
              <a:endParaRPr lang="en-US" sz="66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1030061" y="1783080"/>
            <a:ext cx="5657739" cy="6753232"/>
          </a:xfrm>
          <a:custGeom>
            <a:avLst/>
            <a:gdLst/>
            <a:ahLst/>
            <a:cxnLst/>
            <a:rect l="l" t="t" r="r" b="b"/>
            <a:pathLst>
              <a:path w="5657739" h="6753232">
                <a:moveTo>
                  <a:pt x="0" y="0"/>
                </a:moveTo>
                <a:lnTo>
                  <a:pt x="5657739" y="0"/>
                </a:lnTo>
                <a:lnTo>
                  <a:pt x="5657739" y="6753232"/>
                </a:lnTo>
                <a:lnTo>
                  <a:pt x="0" y="675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2" r="-109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4012760"/>
            <a:ext cx="3899396" cy="3484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3743" lvl="1" indent="-191872" algn="l">
              <a:lnSpc>
                <a:spcPts val="3554"/>
              </a:lnSpc>
              <a:buFont typeface="Arial"/>
              <a:buChar char="•"/>
            </a:pPr>
            <a:r>
              <a:rPr lang="en-US" sz="1777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character id</a:t>
            </a:r>
          </a:p>
          <a:p>
            <a:pPr marL="383743" lvl="1" indent="-191872" algn="l">
              <a:lnSpc>
                <a:spcPts val="3554"/>
              </a:lnSpc>
              <a:buFont typeface="Arial"/>
              <a:buChar char="•"/>
            </a:pPr>
            <a:r>
              <a:rPr lang="en-US" sz="1777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prev accuracy</a:t>
            </a:r>
          </a:p>
          <a:p>
            <a:pPr marL="383743" lvl="1" indent="-191872" algn="l">
              <a:lnSpc>
                <a:spcPts val="3554"/>
              </a:lnSpc>
              <a:buFont typeface="Arial"/>
              <a:buChar char="•"/>
            </a:pPr>
            <a:r>
              <a:rPr lang="en-US" sz="1777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prev mastery</a:t>
            </a:r>
          </a:p>
          <a:p>
            <a:pPr marL="383743" lvl="1" indent="-191872" algn="l">
              <a:lnSpc>
                <a:spcPts val="3554"/>
              </a:lnSpc>
              <a:buFont typeface="Arial"/>
              <a:buChar char="•"/>
            </a:pPr>
            <a:r>
              <a:rPr lang="en-US" sz="1777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prev mistakes</a:t>
            </a:r>
          </a:p>
          <a:p>
            <a:pPr marL="383743" lvl="1" indent="-191872" algn="l">
              <a:lnSpc>
                <a:spcPts val="3554"/>
              </a:lnSpc>
              <a:buFont typeface="Arial"/>
              <a:buChar char="•"/>
            </a:pPr>
            <a:r>
              <a:rPr lang="en-US" sz="1777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prev confidence</a:t>
            </a:r>
          </a:p>
          <a:p>
            <a:pPr marL="383743" lvl="1" indent="-191872" algn="l">
              <a:lnSpc>
                <a:spcPts val="3554"/>
              </a:lnSpc>
              <a:buFont typeface="Arial"/>
              <a:buChar char="•"/>
            </a:pPr>
            <a:r>
              <a:rPr lang="en-US" sz="1777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session number</a:t>
            </a:r>
          </a:p>
          <a:p>
            <a:pPr marL="383743" lvl="1" indent="-191872" algn="l">
              <a:lnSpc>
                <a:spcPts val="3554"/>
              </a:lnSpc>
              <a:buFont typeface="Arial"/>
              <a:buChar char="•"/>
            </a:pPr>
            <a:r>
              <a:rPr lang="en-US" sz="1777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difficulty level</a:t>
            </a:r>
          </a:p>
          <a:p>
            <a:pPr marL="383743" lvl="1" indent="-191872" algn="l">
              <a:lnSpc>
                <a:spcPts val="3554"/>
              </a:lnSpc>
              <a:buFont typeface="Arial"/>
              <a:buChar char="•"/>
            </a:pPr>
            <a:r>
              <a:rPr lang="en-US" sz="1777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time since last practice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37358" y="3993710"/>
            <a:ext cx="3424421" cy="1987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3179" lvl="1" indent="-221589" algn="l">
              <a:lnSpc>
                <a:spcPts val="4105"/>
              </a:lnSpc>
              <a:buFont typeface="Arial"/>
              <a:buChar char="•"/>
            </a:pPr>
            <a:r>
              <a:rPr lang="en-US" sz="2052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response time</a:t>
            </a:r>
          </a:p>
          <a:p>
            <a:pPr marL="443179" lvl="1" indent="-221589" algn="l">
              <a:lnSpc>
                <a:spcPts val="4105"/>
              </a:lnSpc>
              <a:buFont typeface="Arial"/>
              <a:buChar char="•"/>
            </a:pPr>
            <a:r>
              <a:rPr lang="en-US" sz="2052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press duration</a:t>
            </a:r>
          </a:p>
          <a:p>
            <a:pPr marL="443179" lvl="1" indent="-221589" algn="l">
              <a:lnSpc>
                <a:spcPts val="4105"/>
              </a:lnSpc>
              <a:buFont typeface="Arial"/>
              <a:buChar char="•"/>
            </a:pPr>
            <a:r>
              <a:rPr lang="en-US" sz="2052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retry count</a:t>
            </a:r>
          </a:p>
          <a:p>
            <a:pPr marL="443179" lvl="1" indent="-221589" algn="l">
              <a:lnSpc>
                <a:spcPts val="4105"/>
              </a:lnSpc>
              <a:buFont typeface="Arial"/>
              <a:buChar char="•"/>
            </a:pPr>
            <a:r>
              <a:rPr lang="en-US" sz="2052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hint count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0277" y="3172083"/>
            <a:ext cx="2634021" cy="62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8C52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SAMPLED BEFORE THE ATTEMPT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28096" y="3172083"/>
            <a:ext cx="2264733" cy="306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1799" b="1">
                <a:solidFill>
                  <a:srgbClr val="5271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MEASURED DURING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61779" y="3172083"/>
            <a:ext cx="1782503" cy="620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1">
                <a:solidFill>
                  <a:srgbClr val="00A67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READ AFTER SCORING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42320" y="3993084"/>
            <a:ext cx="2502360" cy="968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4000"/>
              </a:lnSpc>
              <a:buFont typeface="Arial"/>
              <a:buChar char="•"/>
            </a:pPr>
            <a:r>
              <a:rPr lang="en-US" sz="2000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current streak</a:t>
            </a:r>
          </a:p>
          <a:p>
            <a:pPr marL="431801" lvl="1" indent="-215900" algn="l">
              <a:lnSpc>
                <a:spcPts val="4000"/>
              </a:lnSpc>
              <a:buFont typeface="Arial"/>
              <a:buChar char="•"/>
            </a:pPr>
            <a:r>
              <a:rPr lang="en-US" sz="2000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wrong streak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87648" y="9760029"/>
            <a:ext cx="4488109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00200" y="689572"/>
            <a:ext cx="15087600" cy="1093508"/>
            <a:chOff x="0" y="0"/>
            <a:chExt cx="20116800" cy="14580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1457960"/>
            </a:xfrm>
            <a:custGeom>
              <a:avLst/>
              <a:gdLst/>
              <a:ahLst/>
              <a:cxnLst/>
              <a:rect l="l" t="t" r="r" b="b"/>
              <a:pathLst>
                <a:path w="20116800" h="1457960">
                  <a:moveTo>
                    <a:pt x="0" y="0"/>
                  </a:moveTo>
                  <a:lnTo>
                    <a:pt x="20116800" y="0"/>
                  </a:lnTo>
                  <a:lnTo>
                    <a:pt x="20116800" y="1457960"/>
                  </a:lnTo>
                  <a:lnTo>
                    <a:pt x="0" y="1457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8663" b="-21866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00200" y="718147"/>
            <a:ext cx="15087600" cy="1367669"/>
            <a:chOff x="0" y="0"/>
            <a:chExt cx="20116800" cy="18235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16800" cy="1823559"/>
            </a:xfrm>
            <a:custGeom>
              <a:avLst/>
              <a:gdLst/>
              <a:ahLst/>
              <a:cxnLst/>
              <a:rect l="l" t="t" r="r" b="b"/>
              <a:pathLst>
                <a:path w="20116800" h="1823559">
                  <a:moveTo>
                    <a:pt x="0" y="0"/>
                  </a:moveTo>
                  <a:lnTo>
                    <a:pt x="20116800" y="0"/>
                  </a:lnTo>
                  <a:lnTo>
                    <a:pt x="20116800" y="1823559"/>
                  </a:lnTo>
                  <a:lnTo>
                    <a:pt x="0" y="1823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019" b="-15388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20116800" cy="17854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Model Architecture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308783" y="2882738"/>
            <a:ext cx="2686054" cy="4521524"/>
          </a:xfrm>
          <a:custGeom>
            <a:avLst/>
            <a:gdLst/>
            <a:ahLst/>
            <a:cxnLst/>
            <a:rect l="l" t="t" r="r" b="b"/>
            <a:pathLst>
              <a:path w="2686054" h="4521524">
                <a:moveTo>
                  <a:pt x="0" y="0"/>
                </a:moveTo>
                <a:lnTo>
                  <a:pt x="2686054" y="0"/>
                </a:lnTo>
                <a:lnTo>
                  <a:pt x="2686054" y="4521524"/>
                </a:lnTo>
                <a:lnTo>
                  <a:pt x="0" y="4521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318859" y="3239228"/>
            <a:ext cx="687272" cy="24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821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INPUT</a:t>
            </a:r>
          </a:p>
        </p:txBody>
      </p:sp>
      <p:sp>
        <p:nvSpPr>
          <p:cNvPr id="13" name="Freeform 13"/>
          <p:cNvSpPr/>
          <p:nvPr/>
        </p:nvSpPr>
        <p:spPr>
          <a:xfrm>
            <a:off x="2487662" y="4046695"/>
            <a:ext cx="343218" cy="2193611"/>
          </a:xfrm>
          <a:custGeom>
            <a:avLst/>
            <a:gdLst/>
            <a:ahLst/>
            <a:cxnLst/>
            <a:rect l="l" t="t" r="r" b="b"/>
            <a:pathLst>
              <a:path w="343218" h="2193611">
                <a:moveTo>
                  <a:pt x="0" y="0"/>
                </a:moveTo>
                <a:lnTo>
                  <a:pt x="343218" y="0"/>
                </a:lnTo>
                <a:lnTo>
                  <a:pt x="343218" y="2193610"/>
                </a:lnTo>
                <a:lnTo>
                  <a:pt x="0" y="21936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2487662" y="6374608"/>
            <a:ext cx="343218" cy="447676"/>
          </a:xfrm>
          <a:custGeom>
            <a:avLst/>
            <a:gdLst/>
            <a:ahLst/>
            <a:cxnLst/>
            <a:rect l="l" t="t" r="r" b="b"/>
            <a:pathLst>
              <a:path w="343218" h="447676">
                <a:moveTo>
                  <a:pt x="0" y="0"/>
                </a:moveTo>
                <a:lnTo>
                  <a:pt x="343218" y="0"/>
                </a:lnTo>
                <a:lnTo>
                  <a:pt x="343218" y="447676"/>
                </a:lnTo>
                <a:lnTo>
                  <a:pt x="0" y="4476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815767" y="4912201"/>
            <a:ext cx="850584" cy="447676"/>
          </a:xfrm>
          <a:custGeom>
            <a:avLst/>
            <a:gdLst/>
            <a:ahLst/>
            <a:cxnLst/>
            <a:rect l="l" t="t" r="r" b="b"/>
            <a:pathLst>
              <a:path w="850584" h="447676">
                <a:moveTo>
                  <a:pt x="0" y="0"/>
                </a:moveTo>
                <a:lnTo>
                  <a:pt x="850583" y="0"/>
                </a:lnTo>
                <a:lnTo>
                  <a:pt x="850583" y="447676"/>
                </a:lnTo>
                <a:lnTo>
                  <a:pt x="0" y="4476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4487280" y="2882738"/>
            <a:ext cx="2700976" cy="4521524"/>
          </a:xfrm>
          <a:custGeom>
            <a:avLst/>
            <a:gdLst/>
            <a:ahLst/>
            <a:cxnLst/>
            <a:rect l="l" t="t" r="r" b="b"/>
            <a:pathLst>
              <a:path w="2700976" h="4521524">
                <a:moveTo>
                  <a:pt x="0" y="0"/>
                </a:moveTo>
                <a:lnTo>
                  <a:pt x="2700976" y="0"/>
                </a:lnTo>
                <a:lnTo>
                  <a:pt x="2700976" y="4521524"/>
                </a:lnTo>
                <a:lnTo>
                  <a:pt x="0" y="45215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5357323" y="3239228"/>
            <a:ext cx="1067080" cy="24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821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DENSE 32</a:t>
            </a:r>
          </a:p>
        </p:txBody>
      </p:sp>
      <p:sp>
        <p:nvSpPr>
          <p:cNvPr id="18" name="Freeform 18"/>
          <p:cNvSpPr/>
          <p:nvPr/>
        </p:nvSpPr>
        <p:spPr>
          <a:xfrm>
            <a:off x="5666159" y="4046695"/>
            <a:ext cx="343218" cy="2193611"/>
          </a:xfrm>
          <a:custGeom>
            <a:avLst/>
            <a:gdLst/>
            <a:ahLst/>
            <a:cxnLst/>
            <a:rect l="l" t="t" r="r" b="b"/>
            <a:pathLst>
              <a:path w="343218" h="2193611">
                <a:moveTo>
                  <a:pt x="0" y="0"/>
                </a:moveTo>
                <a:lnTo>
                  <a:pt x="343218" y="0"/>
                </a:lnTo>
                <a:lnTo>
                  <a:pt x="343218" y="2193610"/>
                </a:lnTo>
                <a:lnTo>
                  <a:pt x="0" y="21936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666159" y="6374608"/>
            <a:ext cx="343218" cy="447676"/>
          </a:xfrm>
          <a:custGeom>
            <a:avLst/>
            <a:gdLst/>
            <a:ahLst/>
            <a:cxnLst/>
            <a:rect l="l" t="t" r="r" b="b"/>
            <a:pathLst>
              <a:path w="343218" h="447676">
                <a:moveTo>
                  <a:pt x="0" y="0"/>
                </a:moveTo>
                <a:lnTo>
                  <a:pt x="343218" y="0"/>
                </a:lnTo>
                <a:lnTo>
                  <a:pt x="343218" y="447676"/>
                </a:lnTo>
                <a:lnTo>
                  <a:pt x="0" y="4476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438710" y="6863086"/>
            <a:ext cx="904305" cy="316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US" sz="1200" b="1">
                <a:solidFill>
                  <a:srgbClr val="008F8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480 parameters</a:t>
            </a:r>
          </a:p>
        </p:txBody>
      </p:sp>
      <p:sp>
        <p:nvSpPr>
          <p:cNvPr id="21" name="Freeform 21"/>
          <p:cNvSpPr/>
          <p:nvPr/>
        </p:nvSpPr>
        <p:spPr>
          <a:xfrm>
            <a:off x="7009186" y="4912201"/>
            <a:ext cx="850584" cy="447676"/>
          </a:xfrm>
          <a:custGeom>
            <a:avLst/>
            <a:gdLst/>
            <a:ahLst/>
            <a:cxnLst/>
            <a:rect l="l" t="t" r="r" b="b"/>
            <a:pathLst>
              <a:path w="850584" h="447676">
                <a:moveTo>
                  <a:pt x="0" y="0"/>
                </a:moveTo>
                <a:lnTo>
                  <a:pt x="850584" y="0"/>
                </a:lnTo>
                <a:lnTo>
                  <a:pt x="850584" y="447676"/>
                </a:lnTo>
                <a:lnTo>
                  <a:pt x="0" y="4476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7665777" y="2882738"/>
            <a:ext cx="2865124" cy="4521524"/>
          </a:xfrm>
          <a:custGeom>
            <a:avLst/>
            <a:gdLst/>
            <a:ahLst/>
            <a:cxnLst/>
            <a:rect l="l" t="t" r="r" b="b"/>
            <a:pathLst>
              <a:path w="2865124" h="4521524">
                <a:moveTo>
                  <a:pt x="0" y="0"/>
                </a:moveTo>
                <a:lnTo>
                  <a:pt x="2865124" y="0"/>
                </a:lnTo>
                <a:lnTo>
                  <a:pt x="2865124" y="4521524"/>
                </a:lnTo>
                <a:lnTo>
                  <a:pt x="0" y="45215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8558561" y="3239228"/>
            <a:ext cx="1067080" cy="24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1"/>
              </a:lnSpc>
            </a:pPr>
            <a:r>
              <a:rPr lang="en-US" sz="1821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DENSE 16</a:t>
            </a:r>
          </a:p>
        </p:txBody>
      </p:sp>
      <p:sp>
        <p:nvSpPr>
          <p:cNvPr id="24" name="Freeform 24"/>
          <p:cNvSpPr/>
          <p:nvPr/>
        </p:nvSpPr>
        <p:spPr>
          <a:xfrm>
            <a:off x="8844656" y="4046695"/>
            <a:ext cx="522288" cy="1745935"/>
          </a:xfrm>
          <a:custGeom>
            <a:avLst/>
            <a:gdLst/>
            <a:ahLst/>
            <a:cxnLst/>
            <a:rect l="l" t="t" r="r" b="b"/>
            <a:pathLst>
              <a:path w="522288" h="1745935">
                <a:moveTo>
                  <a:pt x="0" y="0"/>
                </a:moveTo>
                <a:lnTo>
                  <a:pt x="522288" y="0"/>
                </a:lnTo>
                <a:lnTo>
                  <a:pt x="522288" y="1745935"/>
                </a:lnTo>
                <a:lnTo>
                  <a:pt x="0" y="17459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008804" y="5926932"/>
            <a:ext cx="179070" cy="596901"/>
          </a:xfrm>
          <a:custGeom>
            <a:avLst/>
            <a:gdLst/>
            <a:ahLst/>
            <a:cxnLst/>
            <a:rect l="l" t="t" r="r" b="b"/>
            <a:pathLst>
              <a:path w="179070" h="596901">
                <a:moveTo>
                  <a:pt x="0" y="0"/>
                </a:moveTo>
                <a:lnTo>
                  <a:pt x="179070" y="0"/>
                </a:lnTo>
                <a:lnTo>
                  <a:pt x="179070" y="596901"/>
                </a:lnTo>
                <a:lnTo>
                  <a:pt x="0" y="5969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424219" y="5049549"/>
            <a:ext cx="741070" cy="161102"/>
          </a:xfrm>
          <a:custGeom>
            <a:avLst/>
            <a:gdLst/>
            <a:ahLst/>
            <a:cxnLst/>
            <a:rect l="l" t="t" r="r" b="b"/>
            <a:pathLst>
              <a:path w="741070" h="161102">
                <a:moveTo>
                  <a:pt x="0" y="0"/>
                </a:moveTo>
                <a:lnTo>
                  <a:pt x="741071" y="0"/>
                </a:lnTo>
                <a:lnTo>
                  <a:pt x="741071" y="161102"/>
                </a:lnTo>
                <a:lnTo>
                  <a:pt x="0" y="16110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264600" y="3594741"/>
            <a:ext cx="813874" cy="368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14 features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82872" y="3594741"/>
            <a:ext cx="528320" cy="19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ReLU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884111" y="3594741"/>
            <a:ext cx="651099" cy="19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"/>
              </a:lnSpc>
            </a:pPr>
            <a:r>
              <a:rPr lang="en-US" sz="1400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ReLU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53648" y="6841334"/>
            <a:ext cx="904305" cy="337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sz="1300" b="1">
                <a:solidFill>
                  <a:srgbClr val="008F8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528 parameters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2057442" y="2807210"/>
            <a:ext cx="4011440" cy="1579726"/>
          </a:xfrm>
          <a:custGeom>
            <a:avLst/>
            <a:gdLst/>
            <a:ahLst/>
            <a:cxnLst/>
            <a:rect l="l" t="t" r="r" b="b"/>
            <a:pathLst>
              <a:path w="4011440" h="1579726">
                <a:moveTo>
                  <a:pt x="0" y="0"/>
                </a:moveTo>
                <a:lnTo>
                  <a:pt x="4011439" y="0"/>
                </a:lnTo>
                <a:lnTo>
                  <a:pt x="4011439" y="1579726"/>
                </a:lnTo>
                <a:lnTo>
                  <a:pt x="0" y="157972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951673" y="3242556"/>
            <a:ext cx="2194293" cy="27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974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DENSE 3 — softmax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360414" y="3648552"/>
            <a:ext cx="1419837" cy="196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484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confidence state</a:t>
            </a:r>
          </a:p>
        </p:txBody>
      </p:sp>
      <p:sp>
        <p:nvSpPr>
          <p:cNvPr id="34" name="Freeform 34"/>
          <p:cNvSpPr/>
          <p:nvPr/>
        </p:nvSpPr>
        <p:spPr>
          <a:xfrm>
            <a:off x="12057442" y="5753666"/>
            <a:ext cx="4011440" cy="1561977"/>
          </a:xfrm>
          <a:custGeom>
            <a:avLst/>
            <a:gdLst/>
            <a:ahLst/>
            <a:cxnLst/>
            <a:rect l="l" t="t" r="r" b="b"/>
            <a:pathLst>
              <a:path w="4011440" h="1561977">
                <a:moveTo>
                  <a:pt x="0" y="0"/>
                </a:moveTo>
                <a:lnTo>
                  <a:pt x="4011439" y="0"/>
                </a:lnTo>
                <a:lnTo>
                  <a:pt x="4011439" y="1561976"/>
                </a:lnTo>
                <a:lnTo>
                  <a:pt x="0" y="156197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2951673" y="6158269"/>
            <a:ext cx="2194293" cy="27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74"/>
              </a:lnSpc>
            </a:pPr>
            <a:r>
              <a:rPr lang="en-US" sz="1974" b="1">
                <a:solidFill>
                  <a:srgbClr val="00000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DENSE 6 — softmax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381927" y="6564265"/>
            <a:ext cx="1333786" cy="196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4"/>
              </a:lnSpc>
            </a:pPr>
            <a:r>
              <a:rPr lang="en-US" sz="1484">
                <a:solidFill>
                  <a:srgbClr val="000000"/>
                </a:solidFill>
                <a:latin typeface="Barlow Light"/>
                <a:ea typeface="Barlow Light"/>
                <a:cs typeface="Barlow Light"/>
                <a:sym typeface="Barlow Light"/>
              </a:rPr>
              <a:t>teaching action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575541" y="3988033"/>
            <a:ext cx="946558" cy="152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lang="en-US" sz="1170" b="1">
                <a:solidFill>
                  <a:srgbClr val="E1148A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51 parameters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575541" y="6833413"/>
            <a:ext cx="946558" cy="29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8"/>
              </a:lnSpc>
            </a:pPr>
            <a:r>
              <a:rPr lang="en-US" sz="1118" b="1">
                <a:solidFill>
                  <a:srgbClr val="008F8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102 parameters</a:t>
            </a:r>
          </a:p>
        </p:txBody>
      </p:sp>
      <p:sp>
        <p:nvSpPr>
          <p:cNvPr id="39" name="Freeform 39"/>
          <p:cNvSpPr/>
          <p:nvPr/>
        </p:nvSpPr>
        <p:spPr>
          <a:xfrm>
            <a:off x="11184340" y="3480751"/>
            <a:ext cx="850584" cy="447676"/>
          </a:xfrm>
          <a:custGeom>
            <a:avLst/>
            <a:gdLst/>
            <a:ahLst/>
            <a:cxnLst/>
            <a:rect l="l" t="t" r="r" b="b"/>
            <a:pathLst>
              <a:path w="850584" h="447676">
                <a:moveTo>
                  <a:pt x="0" y="0"/>
                </a:moveTo>
                <a:lnTo>
                  <a:pt x="850583" y="0"/>
                </a:lnTo>
                <a:lnTo>
                  <a:pt x="850583" y="447675"/>
                </a:lnTo>
                <a:lnTo>
                  <a:pt x="0" y="4476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1184340" y="6240305"/>
            <a:ext cx="850584" cy="447676"/>
          </a:xfrm>
          <a:custGeom>
            <a:avLst/>
            <a:gdLst/>
            <a:ahLst/>
            <a:cxnLst/>
            <a:rect l="l" t="t" r="r" b="b"/>
            <a:pathLst>
              <a:path w="850584" h="447676">
                <a:moveTo>
                  <a:pt x="0" y="0"/>
                </a:moveTo>
                <a:lnTo>
                  <a:pt x="850583" y="0"/>
                </a:lnTo>
                <a:lnTo>
                  <a:pt x="850583" y="447676"/>
                </a:lnTo>
                <a:lnTo>
                  <a:pt x="0" y="44767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41" name="AutoShape 41"/>
          <p:cNvSpPr/>
          <p:nvPr/>
        </p:nvSpPr>
        <p:spPr>
          <a:xfrm>
            <a:off x="11184340" y="3704588"/>
            <a:ext cx="0" cy="2759555"/>
          </a:xfrm>
          <a:prstGeom prst="line">
            <a:avLst/>
          </a:prstGeom>
          <a:ln w="38100" cap="flat">
            <a:solidFill>
              <a:srgbClr val="D9D9D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2" name="TextBox 42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799891" y="9696892"/>
            <a:ext cx="4488109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00200" y="689572"/>
            <a:ext cx="15087600" cy="1093508"/>
            <a:chOff x="0" y="0"/>
            <a:chExt cx="20116800" cy="14580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1457960"/>
            </a:xfrm>
            <a:custGeom>
              <a:avLst/>
              <a:gdLst/>
              <a:ahLst/>
              <a:cxnLst/>
              <a:rect l="l" t="t" r="r" b="b"/>
              <a:pathLst>
                <a:path w="20116800" h="1457960">
                  <a:moveTo>
                    <a:pt x="0" y="0"/>
                  </a:moveTo>
                  <a:lnTo>
                    <a:pt x="20116800" y="0"/>
                  </a:lnTo>
                  <a:lnTo>
                    <a:pt x="20116800" y="1457960"/>
                  </a:lnTo>
                  <a:lnTo>
                    <a:pt x="0" y="1457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8663" b="-21866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00200" y="718147"/>
            <a:ext cx="15087600" cy="1367669"/>
            <a:chOff x="0" y="0"/>
            <a:chExt cx="20116800" cy="18235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16800" cy="1823559"/>
            </a:xfrm>
            <a:custGeom>
              <a:avLst/>
              <a:gdLst/>
              <a:ahLst/>
              <a:cxnLst/>
              <a:rect l="l" t="t" r="r" b="b"/>
              <a:pathLst>
                <a:path w="20116800" h="1823559">
                  <a:moveTo>
                    <a:pt x="0" y="0"/>
                  </a:moveTo>
                  <a:lnTo>
                    <a:pt x="20116800" y="0"/>
                  </a:lnTo>
                  <a:lnTo>
                    <a:pt x="20116800" y="1823559"/>
                  </a:lnTo>
                  <a:lnTo>
                    <a:pt x="0" y="1823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019" b="-153883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38100"/>
              <a:ext cx="20116800" cy="17854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 Model Output And Performance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8050998" y="4500455"/>
            <a:ext cx="1456545" cy="401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402" b="1">
                <a:solidFill>
                  <a:srgbClr val="737373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3 classes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14685" y="3146016"/>
            <a:ext cx="3470238" cy="772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00A674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OUTPUT 1 — TEACHING ACTION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2705" y="4440204"/>
            <a:ext cx="1295130" cy="381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2"/>
              </a:lnSpc>
            </a:pPr>
            <a:r>
              <a:rPr lang="en-US" sz="2208" b="1">
                <a:solidFill>
                  <a:srgbClr val="737373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6 classes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42973" y="3012865"/>
            <a:ext cx="4129139" cy="772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E83C63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OUTPUT 2 — CONFIDENCE STATE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18026" y="5114925"/>
            <a:ext cx="3395773" cy="387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7870" lvl="1" indent="-198935" algn="l">
              <a:lnSpc>
                <a:spcPts val="2579"/>
              </a:lnSpc>
              <a:buFont typeface="Arial"/>
              <a:buChar char="•"/>
            </a:pPr>
            <a:r>
              <a:rPr lang="en-US" sz="184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Repeat</a:t>
            </a:r>
          </a:p>
          <a:p>
            <a:pPr algn="l">
              <a:lnSpc>
                <a:spcPts val="2579"/>
              </a:lnSpc>
            </a:pPr>
            <a:endParaRPr lang="en-US" sz="1842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97870" lvl="1" indent="-198935" algn="l">
              <a:lnSpc>
                <a:spcPts val="2579"/>
              </a:lnSpc>
              <a:buFont typeface="Arial"/>
              <a:buChar char="•"/>
            </a:pPr>
            <a:r>
              <a:rPr lang="en-US" sz="1842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Hint </a:t>
            </a:r>
          </a:p>
          <a:p>
            <a:pPr algn="l">
              <a:lnSpc>
                <a:spcPts val="2579"/>
              </a:lnSpc>
            </a:pPr>
            <a:endParaRPr lang="en-US" sz="1842" b="1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marL="397870" lvl="1" indent="-198935" algn="l">
              <a:lnSpc>
                <a:spcPts val="2579"/>
              </a:lnSpc>
              <a:buFont typeface="Arial"/>
              <a:buChar char="•"/>
            </a:pPr>
            <a:r>
              <a:rPr lang="en-US" sz="1842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Normal practice</a:t>
            </a:r>
          </a:p>
          <a:p>
            <a:pPr algn="l">
              <a:lnSpc>
                <a:spcPts val="2579"/>
              </a:lnSpc>
            </a:pPr>
            <a:endParaRPr lang="en-US" sz="1842" b="1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marL="397870" lvl="1" indent="-198935" algn="l">
              <a:lnSpc>
                <a:spcPts val="2579"/>
              </a:lnSpc>
              <a:buFont typeface="Arial"/>
              <a:buChar char="•"/>
            </a:pPr>
            <a:r>
              <a:rPr lang="en-US" sz="1842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Review previous</a:t>
            </a:r>
          </a:p>
          <a:p>
            <a:pPr algn="l">
              <a:lnSpc>
                <a:spcPts val="2579"/>
              </a:lnSpc>
            </a:pPr>
            <a:endParaRPr lang="en-US" sz="1842" b="1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marL="397870" lvl="1" indent="-198935" algn="l">
              <a:lnSpc>
                <a:spcPts val="2579"/>
              </a:lnSpc>
              <a:buFont typeface="Arial"/>
              <a:buChar char="•"/>
            </a:pPr>
            <a:r>
              <a:rPr lang="en-US" sz="1842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Increase difficulty</a:t>
            </a:r>
          </a:p>
          <a:p>
            <a:pPr algn="l">
              <a:lnSpc>
                <a:spcPts val="2579"/>
              </a:lnSpc>
            </a:pPr>
            <a:endParaRPr lang="en-US" sz="1842" b="1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  <a:p>
            <a:pPr marL="397870" lvl="1" indent="-198935" algn="l">
              <a:lnSpc>
                <a:spcPts val="2579"/>
              </a:lnSpc>
              <a:buFont typeface="Arial"/>
              <a:buChar char="•"/>
            </a:pPr>
            <a:r>
              <a:rPr lang="en-US" sz="1842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Word practice</a:t>
            </a:r>
          </a:p>
          <a:p>
            <a:pPr algn="l">
              <a:lnSpc>
                <a:spcPts val="2579"/>
              </a:lnSpc>
            </a:pPr>
            <a:endParaRPr lang="en-US" sz="1842" b="1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73262" y="5236419"/>
            <a:ext cx="3395773" cy="199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Confident</a:t>
            </a:r>
          </a:p>
          <a:p>
            <a:pPr algn="l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Hesitant</a:t>
            </a:r>
          </a:p>
          <a:p>
            <a:pPr algn="l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Guessing</a:t>
            </a:r>
          </a:p>
          <a:p>
            <a:pPr algn="l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Canva Sans Medium"/>
              <a:ea typeface="Canva Sans Medium"/>
              <a:cs typeface="Canva Sans Medium"/>
              <a:sym typeface="Canva Sans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987286" y="2978721"/>
            <a:ext cx="4129139" cy="382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0432F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MODEL PEREMETER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676341" y="4570612"/>
            <a:ext cx="4440084" cy="3323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Trainable parameters: 1,161</a:t>
            </a:r>
          </a:p>
          <a:p>
            <a:pPr algn="just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Float32 model:  ~4.6 KB</a:t>
            </a:r>
          </a:p>
          <a:p>
            <a:pPr algn="just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int8 quantization: ~ 5.928 kB</a:t>
            </a:r>
          </a:p>
          <a:p>
            <a:pPr algn="just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Inference time:  &lt; 1 ms</a:t>
            </a:r>
          </a:p>
          <a:p>
            <a:pPr algn="just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time: &lt; 30 s, CPU</a:t>
            </a:r>
          </a:p>
          <a:p>
            <a:pPr algn="just">
              <a:lnSpc>
                <a:spcPts val="2659"/>
              </a:lnSpc>
            </a:pPr>
            <a:endParaRPr lang="en-US" sz="18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017875" y="9771854"/>
            <a:ext cx="4488109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29" y="9594733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325840" y="855755"/>
            <a:ext cx="14519943" cy="1197275"/>
            <a:chOff x="0" y="0"/>
            <a:chExt cx="19359924" cy="159636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359924" cy="1596366"/>
            </a:xfrm>
            <a:custGeom>
              <a:avLst/>
              <a:gdLst/>
              <a:ahLst/>
              <a:cxnLst/>
              <a:rect l="l" t="t" r="r" b="b"/>
              <a:pathLst>
                <a:path w="19359924" h="1596366">
                  <a:moveTo>
                    <a:pt x="0" y="0"/>
                  </a:moveTo>
                  <a:lnTo>
                    <a:pt x="19359924" y="0"/>
                  </a:lnTo>
                  <a:lnTo>
                    <a:pt x="19359924" y="1596366"/>
                  </a:lnTo>
                  <a:lnTo>
                    <a:pt x="0" y="159636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01069" r="-3909" b="-19001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38100"/>
              <a:ext cx="19359924" cy="1558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64"/>
                </a:lnSpc>
              </a:pPr>
              <a:r>
                <a:rPr lang="en-US" sz="58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Real Time Testing In Offline Mode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23828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601728" y="9680791"/>
            <a:ext cx="448810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2106059</a:t>
            </a:r>
          </a:p>
        </p:txBody>
      </p:sp>
      <p:sp>
        <p:nvSpPr>
          <p:cNvPr id="11" name="Freeform 11"/>
          <p:cNvSpPr/>
          <p:nvPr/>
        </p:nvSpPr>
        <p:spPr>
          <a:xfrm>
            <a:off x="3970891" y="2141365"/>
            <a:ext cx="4614920" cy="1121976"/>
          </a:xfrm>
          <a:custGeom>
            <a:avLst/>
            <a:gdLst/>
            <a:ahLst/>
            <a:cxnLst/>
            <a:rect l="l" t="t" r="r" b="b"/>
            <a:pathLst>
              <a:path w="4614920" h="1121976">
                <a:moveTo>
                  <a:pt x="0" y="0"/>
                </a:moveTo>
                <a:lnTo>
                  <a:pt x="4614920" y="0"/>
                </a:lnTo>
                <a:lnTo>
                  <a:pt x="4614920" y="1121976"/>
                </a:lnTo>
                <a:lnTo>
                  <a:pt x="0" y="1121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025069" y="2394874"/>
            <a:ext cx="1365678" cy="307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171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Audio Prompt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86617" y="2751115"/>
            <a:ext cx="2709678" cy="23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5148" lvl="1" indent="-152574" algn="l">
              <a:lnSpc>
                <a:spcPts val="1978"/>
              </a:lnSpc>
              <a:buFont typeface="Arial"/>
              <a:buChar char="•"/>
            </a:pP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Speaker plays a letter sound.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37222" y="3115156"/>
            <a:ext cx="416331" cy="423387"/>
          </a:xfrm>
          <a:custGeom>
            <a:avLst/>
            <a:gdLst/>
            <a:ahLst/>
            <a:cxnLst/>
            <a:rect l="l" t="t" r="r" b="b"/>
            <a:pathLst>
              <a:path w="416331" h="423387">
                <a:moveTo>
                  <a:pt x="0" y="0"/>
                </a:moveTo>
                <a:lnTo>
                  <a:pt x="416331" y="0"/>
                </a:lnTo>
                <a:lnTo>
                  <a:pt x="416331" y="423387"/>
                </a:lnTo>
                <a:lnTo>
                  <a:pt x="0" y="423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970891" y="3390358"/>
            <a:ext cx="4614920" cy="980847"/>
          </a:xfrm>
          <a:custGeom>
            <a:avLst/>
            <a:gdLst/>
            <a:ahLst/>
            <a:cxnLst/>
            <a:rect l="l" t="t" r="r" b="b"/>
            <a:pathLst>
              <a:path w="4614920" h="980847">
                <a:moveTo>
                  <a:pt x="0" y="0"/>
                </a:moveTo>
                <a:lnTo>
                  <a:pt x="4614920" y="0"/>
                </a:lnTo>
                <a:lnTo>
                  <a:pt x="4614920" y="980847"/>
                </a:lnTo>
                <a:lnTo>
                  <a:pt x="0" y="9808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938359" y="3607290"/>
            <a:ext cx="1333162" cy="307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1"/>
              </a:lnSpc>
            </a:pPr>
            <a:r>
              <a:rPr lang="en-US" sz="1715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Student Input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86617" y="3943374"/>
            <a:ext cx="3468388" cy="23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5148" lvl="1" indent="-152574" algn="l">
              <a:lnSpc>
                <a:spcPts val="1978"/>
              </a:lnSpc>
              <a:buFont typeface="Arial"/>
              <a:buChar char="•"/>
            </a:pP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Student presses the Braille dot buttons.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6137222" y="4230075"/>
            <a:ext cx="416331" cy="557460"/>
          </a:xfrm>
          <a:custGeom>
            <a:avLst/>
            <a:gdLst/>
            <a:ahLst/>
            <a:cxnLst/>
            <a:rect l="l" t="t" r="r" b="b"/>
            <a:pathLst>
              <a:path w="416331" h="557460">
                <a:moveTo>
                  <a:pt x="0" y="0"/>
                </a:moveTo>
                <a:lnTo>
                  <a:pt x="416331" y="0"/>
                </a:lnTo>
                <a:lnTo>
                  <a:pt x="416331" y="557460"/>
                </a:lnTo>
                <a:lnTo>
                  <a:pt x="0" y="5574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3970891" y="4646406"/>
            <a:ext cx="4614920" cy="973791"/>
          </a:xfrm>
          <a:custGeom>
            <a:avLst/>
            <a:gdLst/>
            <a:ahLst/>
            <a:cxnLst/>
            <a:rect l="l" t="t" r="r" b="b"/>
            <a:pathLst>
              <a:path w="4614920" h="973791">
                <a:moveTo>
                  <a:pt x="0" y="0"/>
                </a:moveTo>
                <a:lnTo>
                  <a:pt x="4614920" y="0"/>
                </a:lnTo>
                <a:lnTo>
                  <a:pt x="4614920" y="973791"/>
                </a:lnTo>
                <a:lnTo>
                  <a:pt x="0" y="9737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4938359" y="4852692"/>
            <a:ext cx="1820904" cy="29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736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Feature Extraction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86617" y="5178987"/>
            <a:ext cx="3468388" cy="23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5148" lvl="1" indent="-152574" algn="l">
              <a:lnSpc>
                <a:spcPts val="1978"/>
              </a:lnSpc>
              <a:buFont typeface="Arial"/>
              <a:buChar char="•"/>
            </a:pP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ESP32 collects 14 input features.</a:t>
            </a:r>
          </a:p>
        </p:txBody>
      </p:sp>
      <p:sp>
        <p:nvSpPr>
          <p:cNvPr id="22" name="Freeform 22"/>
          <p:cNvSpPr/>
          <p:nvPr/>
        </p:nvSpPr>
        <p:spPr>
          <a:xfrm>
            <a:off x="6137222" y="5479068"/>
            <a:ext cx="416331" cy="423387"/>
          </a:xfrm>
          <a:custGeom>
            <a:avLst/>
            <a:gdLst/>
            <a:ahLst/>
            <a:cxnLst/>
            <a:rect l="l" t="t" r="r" b="b"/>
            <a:pathLst>
              <a:path w="416331" h="423387">
                <a:moveTo>
                  <a:pt x="0" y="0"/>
                </a:moveTo>
                <a:lnTo>
                  <a:pt x="416331" y="0"/>
                </a:lnTo>
                <a:lnTo>
                  <a:pt x="416331" y="423387"/>
                </a:lnTo>
                <a:lnTo>
                  <a:pt x="0" y="4233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3970891" y="5754269"/>
            <a:ext cx="4614920" cy="1121976"/>
          </a:xfrm>
          <a:custGeom>
            <a:avLst/>
            <a:gdLst/>
            <a:ahLst/>
            <a:cxnLst/>
            <a:rect l="l" t="t" r="r" b="b"/>
            <a:pathLst>
              <a:path w="4614920" h="1121976">
                <a:moveTo>
                  <a:pt x="0" y="0"/>
                </a:moveTo>
                <a:lnTo>
                  <a:pt x="4614920" y="0"/>
                </a:lnTo>
                <a:lnTo>
                  <a:pt x="4614920" y="1121976"/>
                </a:lnTo>
                <a:lnTo>
                  <a:pt x="0" y="1121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4938359" y="5975692"/>
            <a:ext cx="1853420" cy="29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694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AI Model Inference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786617" y="6292063"/>
            <a:ext cx="3468388" cy="434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1409" lvl="1" indent="-135704" algn="l">
              <a:lnSpc>
                <a:spcPts val="1759"/>
              </a:lnSpc>
              <a:buFont typeface="Arial"/>
              <a:buChar char="•"/>
            </a:pPr>
            <a:r>
              <a:rPr lang="en-US" sz="125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 model decides teaching action and confidence.</a:t>
            </a:r>
          </a:p>
        </p:txBody>
      </p:sp>
      <p:sp>
        <p:nvSpPr>
          <p:cNvPr id="26" name="Freeform 26"/>
          <p:cNvSpPr/>
          <p:nvPr/>
        </p:nvSpPr>
        <p:spPr>
          <a:xfrm>
            <a:off x="6137222" y="6728060"/>
            <a:ext cx="416331" cy="423387"/>
          </a:xfrm>
          <a:custGeom>
            <a:avLst/>
            <a:gdLst/>
            <a:ahLst/>
            <a:cxnLst/>
            <a:rect l="l" t="t" r="r" b="b"/>
            <a:pathLst>
              <a:path w="416331" h="423387">
                <a:moveTo>
                  <a:pt x="0" y="0"/>
                </a:moveTo>
                <a:lnTo>
                  <a:pt x="416331" y="0"/>
                </a:lnTo>
                <a:lnTo>
                  <a:pt x="416331" y="423387"/>
                </a:lnTo>
                <a:lnTo>
                  <a:pt x="0" y="4233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3970891" y="7003262"/>
            <a:ext cx="4614920" cy="980847"/>
          </a:xfrm>
          <a:custGeom>
            <a:avLst/>
            <a:gdLst/>
            <a:ahLst/>
            <a:cxnLst/>
            <a:rect l="l" t="t" r="r" b="b"/>
            <a:pathLst>
              <a:path w="4614920" h="980847">
                <a:moveTo>
                  <a:pt x="0" y="0"/>
                </a:moveTo>
                <a:lnTo>
                  <a:pt x="4614920" y="0"/>
                </a:lnTo>
                <a:lnTo>
                  <a:pt x="4614920" y="980847"/>
                </a:lnTo>
                <a:lnTo>
                  <a:pt x="0" y="9808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4786617" y="7462644"/>
            <a:ext cx="3468388" cy="434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71409" lvl="1" indent="-135704" algn="l">
              <a:lnSpc>
                <a:spcPts val="1759"/>
              </a:lnSpc>
              <a:buFont typeface="Arial"/>
              <a:buChar char="•"/>
            </a:pPr>
            <a:r>
              <a:rPr lang="en-US" sz="125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Speaker and vibration give feedback based on the result.</a:t>
            </a:r>
          </a:p>
        </p:txBody>
      </p:sp>
      <p:sp>
        <p:nvSpPr>
          <p:cNvPr id="29" name="Freeform 29"/>
          <p:cNvSpPr/>
          <p:nvPr/>
        </p:nvSpPr>
        <p:spPr>
          <a:xfrm>
            <a:off x="6137222" y="7842980"/>
            <a:ext cx="416331" cy="557460"/>
          </a:xfrm>
          <a:custGeom>
            <a:avLst/>
            <a:gdLst/>
            <a:ahLst/>
            <a:cxnLst/>
            <a:rect l="l" t="t" r="r" b="b"/>
            <a:pathLst>
              <a:path w="416331" h="557460">
                <a:moveTo>
                  <a:pt x="0" y="0"/>
                </a:moveTo>
                <a:lnTo>
                  <a:pt x="416331" y="0"/>
                </a:lnTo>
                <a:lnTo>
                  <a:pt x="416331" y="557459"/>
                </a:lnTo>
                <a:lnTo>
                  <a:pt x="0" y="55745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970891" y="8118181"/>
            <a:ext cx="4614920" cy="980847"/>
          </a:xfrm>
          <a:custGeom>
            <a:avLst/>
            <a:gdLst/>
            <a:ahLst/>
            <a:cxnLst/>
            <a:rect l="l" t="t" r="r" b="b"/>
            <a:pathLst>
              <a:path w="4614920" h="980847">
                <a:moveTo>
                  <a:pt x="0" y="0"/>
                </a:moveTo>
                <a:lnTo>
                  <a:pt x="4614920" y="0"/>
                </a:lnTo>
                <a:lnTo>
                  <a:pt x="4614920" y="980847"/>
                </a:lnTo>
                <a:lnTo>
                  <a:pt x="0" y="98084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4938359" y="8349984"/>
            <a:ext cx="1539097" cy="29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736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Offline Logging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86617" y="8625697"/>
            <a:ext cx="3468388" cy="23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5148" lvl="1" indent="-152574" algn="l">
              <a:lnSpc>
                <a:spcPts val="1978"/>
              </a:lnSpc>
              <a:buFont typeface="Arial"/>
              <a:buChar char="•"/>
            </a:pP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is saved to microSD card.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38359" y="7175176"/>
            <a:ext cx="942968" cy="291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2"/>
              </a:lnSpc>
            </a:pPr>
            <a:r>
              <a:rPr lang="en-US" sz="1694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Feedback</a:t>
            </a:r>
          </a:p>
        </p:txBody>
      </p:sp>
      <p:sp>
        <p:nvSpPr>
          <p:cNvPr id="34" name="Freeform 34"/>
          <p:cNvSpPr/>
          <p:nvPr/>
        </p:nvSpPr>
        <p:spPr>
          <a:xfrm rot="-5400000">
            <a:off x="8656376" y="8329875"/>
            <a:ext cx="416331" cy="557460"/>
          </a:xfrm>
          <a:custGeom>
            <a:avLst/>
            <a:gdLst/>
            <a:ahLst/>
            <a:cxnLst/>
            <a:rect l="l" t="t" r="r" b="b"/>
            <a:pathLst>
              <a:path w="416331" h="557460">
                <a:moveTo>
                  <a:pt x="0" y="0"/>
                </a:moveTo>
                <a:lnTo>
                  <a:pt x="416331" y="0"/>
                </a:lnTo>
                <a:lnTo>
                  <a:pt x="416331" y="557460"/>
                </a:lnTo>
                <a:lnTo>
                  <a:pt x="0" y="55746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8864541" y="8118181"/>
            <a:ext cx="4614920" cy="980847"/>
          </a:xfrm>
          <a:custGeom>
            <a:avLst/>
            <a:gdLst/>
            <a:ahLst/>
            <a:cxnLst/>
            <a:rect l="l" t="t" r="r" b="b"/>
            <a:pathLst>
              <a:path w="4614920" h="980847">
                <a:moveTo>
                  <a:pt x="0" y="0"/>
                </a:moveTo>
                <a:lnTo>
                  <a:pt x="4614921" y="0"/>
                </a:lnTo>
                <a:lnTo>
                  <a:pt x="4614921" y="980847"/>
                </a:lnTo>
                <a:lnTo>
                  <a:pt x="0" y="98084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9383216" y="8440852"/>
            <a:ext cx="2522266" cy="29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1736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analytics in a mobile app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2181" y="2656018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2181" y="4533910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2181" y="6358747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2181" y="8226028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00200" y="718147"/>
            <a:ext cx="11916161" cy="2879694"/>
            <a:chOff x="0" y="0"/>
            <a:chExt cx="15888215" cy="38395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888215" cy="3839591"/>
            </a:xfrm>
            <a:custGeom>
              <a:avLst/>
              <a:gdLst/>
              <a:ahLst/>
              <a:cxnLst/>
              <a:rect l="l" t="t" r="r" b="b"/>
              <a:pathLst>
                <a:path w="15888215" h="3839591">
                  <a:moveTo>
                    <a:pt x="0" y="0"/>
                  </a:moveTo>
                  <a:lnTo>
                    <a:pt x="15888215" y="0"/>
                  </a:lnTo>
                  <a:lnTo>
                    <a:pt x="15888215" y="3839591"/>
                  </a:lnTo>
                  <a:lnTo>
                    <a:pt x="0" y="38395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597" r="-26614" b="-2057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15888215" cy="38014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92"/>
                </a:lnSpc>
              </a:pPr>
              <a:r>
                <a:rPr lang="en-US" sz="49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6.System Design Considerations (CO2-b)</a:t>
              </a:r>
            </a:p>
            <a:p>
              <a:pPr algn="l">
                <a:lnSpc>
                  <a:spcPts val="7128"/>
                </a:lnSpc>
              </a:pPr>
              <a:endParaRPr lang="en-US" sz="49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7128"/>
                </a:lnSpc>
              </a:pPr>
              <a:endParaRPr lang="en-US" sz="49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08724" y="2972876"/>
            <a:ext cx="5082160" cy="57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9"/>
              </a:lnSpc>
            </a:pPr>
            <a:r>
              <a:rPr lang="en-US" sz="337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Safety Considerations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8724" y="4306917"/>
            <a:ext cx="14507077" cy="3728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892" lvl="1" indent="-288946" algn="l">
              <a:lnSpc>
                <a:spcPts val="3747"/>
              </a:lnSpc>
              <a:buFont typeface="Arial"/>
              <a:buChar char="•"/>
            </a:pPr>
            <a:r>
              <a:rPr lang="en-US" sz="267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Low-Voltage Electrical Safety</a:t>
            </a: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Operates on a safe 5V DC supply </a:t>
            </a:r>
          </a:p>
          <a:p>
            <a:pPr algn="l">
              <a:lnSpc>
                <a:spcPts val="3747"/>
              </a:lnSpc>
            </a:pPr>
            <a:endParaRPr lang="en-US" sz="267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77892" lvl="1" indent="-288946" algn="l">
              <a:lnSpc>
                <a:spcPts val="3747"/>
              </a:lnSpc>
              <a:buFont typeface="Arial"/>
              <a:buChar char="•"/>
            </a:pPr>
            <a:r>
              <a:rPr lang="en-US" sz="267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 Electromagnetic Radiation (RF Safety)</a:t>
            </a: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WiFi and Bluetooth are explicitly to eliminate RF radiation risks for young learners during close-contact use.</a:t>
            </a:r>
          </a:p>
          <a:p>
            <a:pPr algn="l">
              <a:lnSpc>
                <a:spcPts val="3747"/>
              </a:lnSpc>
            </a:pPr>
            <a:endParaRPr lang="en-US" sz="267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77892" lvl="1" indent="-288946" algn="l">
              <a:lnSpc>
                <a:spcPts val="3747"/>
              </a:lnSpc>
              <a:buFont typeface="Arial"/>
              <a:buChar char="•"/>
            </a:pPr>
            <a:r>
              <a:rPr lang="en-US" sz="267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Tactile Comfort</a:t>
            </a: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Micro-coin vibration motors calibrated for gentle, non-fatiguing haptic feedback on sensitive fingertips.</a:t>
            </a:r>
          </a:p>
          <a:p>
            <a:pPr algn="l">
              <a:lnSpc>
                <a:spcPts val="3747"/>
              </a:lnSpc>
            </a:pPr>
            <a:endParaRPr lang="en-US" sz="267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87786" y="9786650"/>
            <a:ext cx="4488109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2181" y="2656018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2181" y="4533910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2181" y="6358747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2181" y="8226028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00200" y="718147"/>
            <a:ext cx="11916161" cy="2879694"/>
            <a:chOff x="0" y="0"/>
            <a:chExt cx="15888215" cy="38395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888215" cy="3839591"/>
            </a:xfrm>
            <a:custGeom>
              <a:avLst/>
              <a:gdLst/>
              <a:ahLst/>
              <a:cxnLst/>
              <a:rect l="l" t="t" r="r" b="b"/>
              <a:pathLst>
                <a:path w="15888215" h="3839591">
                  <a:moveTo>
                    <a:pt x="0" y="0"/>
                  </a:moveTo>
                  <a:lnTo>
                    <a:pt x="15888215" y="0"/>
                  </a:lnTo>
                  <a:lnTo>
                    <a:pt x="15888215" y="3839591"/>
                  </a:lnTo>
                  <a:lnTo>
                    <a:pt x="0" y="38395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597" r="-26614" b="-2057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15888215" cy="38014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92"/>
                </a:lnSpc>
              </a:pPr>
              <a:r>
                <a:rPr lang="en-US" sz="49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3.System Design Considerations (CO2-b)</a:t>
              </a:r>
            </a:p>
            <a:p>
              <a:pPr algn="l">
                <a:lnSpc>
                  <a:spcPts val="7128"/>
                </a:lnSpc>
              </a:pPr>
              <a:endParaRPr lang="en-US" sz="49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7128"/>
                </a:lnSpc>
              </a:pPr>
              <a:endParaRPr lang="en-US" sz="49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9417" y="2972876"/>
            <a:ext cx="5540774" cy="57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9"/>
              </a:lnSpc>
            </a:pPr>
            <a:r>
              <a:rPr lang="en-US" sz="337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Cultural Considerations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8724" y="4306917"/>
            <a:ext cx="14507077" cy="3723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7893" lvl="1" indent="-288946" algn="l">
              <a:lnSpc>
                <a:spcPts val="3747"/>
              </a:lnSpc>
              <a:buFont typeface="Arial"/>
              <a:buChar char="•"/>
            </a:pPr>
            <a:r>
              <a:rPr lang="en-US" sz="267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National Bangla Braille Code:  </a:t>
            </a: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Incorporates all 50 characters (11 vowels + 39 consonants + combining marks) following the official Bangladesh National Braille Standard.</a:t>
            </a:r>
          </a:p>
          <a:p>
            <a:pPr algn="l">
              <a:lnSpc>
                <a:spcPts val="3747"/>
              </a:lnSpc>
            </a:pPr>
            <a:endParaRPr lang="en-US" sz="267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77893" lvl="1" indent="-288946" algn="l">
              <a:lnSpc>
                <a:spcPts val="3747"/>
              </a:lnSpc>
              <a:buFont typeface="Arial"/>
              <a:buChar char="•"/>
            </a:pPr>
            <a:r>
              <a:rPr lang="en-US" sz="267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Native Voice Prompts: </a:t>
            </a:r>
            <a:r>
              <a:rPr lang="en-US" sz="26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clear, localized Bangla audio guidance (0001.mp3–0050.mp3) for culturally natural and intuitive learning</a:t>
            </a:r>
          </a:p>
          <a:p>
            <a:pPr algn="l">
              <a:lnSpc>
                <a:spcPts val="3747"/>
              </a:lnSpc>
            </a:pPr>
            <a:endParaRPr lang="en-US" sz="267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747"/>
              </a:lnSpc>
            </a:pPr>
            <a:endParaRPr lang="en-US" sz="2676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99892" y="9733407"/>
            <a:ext cx="4488109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2181" y="2656018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2181" y="4533910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2181" y="6358747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2181" y="8226028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00200" y="718147"/>
            <a:ext cx="11916161" cy="2879694"/>
            <a:chOff x="0" y="0"/>
            <a:chExt cx="15888215" cy="38395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888215" cy="3839591"/>
            </a:xfrm>
            <a:custGeom>
              <a:avLst/>
              <a:gdLst/>
              <a:ahLst/>
              <a:cxnLst/>
              <a:rect l="l" t="t" r="r" b="b"/>
              <a:pathLst>
                <a:path w="15888215" h="3839591">
                  <a:moveTo>
                    <a:pt x="0" y="0"/>
                  </a:moveTo>
                  <a:lnTo>
                    <a:pt x="15888215" y="0"/>
                  </a:lnTo>
                  <a:lnTo>
                    <a:pt x="15888215" y="3839591"/>
                  </a:lnTo>
                  <a:lnTo>
                    <a:pt x="0" y="38395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597" r="-26614" b="-2057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15888215" cy="38014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92"/>
                </a:lnSpc>
              </a:pPr>
              <a:r>
                <a:rPr lang="en-US" sz="49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6.System Design Considerations (CO2-b)</a:t>
              </a:r>
            </a:p>
            <a:p>
              <a:pPr algn="l">
                <a:lnSpc>
                  <a:spcPts val="7128"/>
                </a:lnSpc>
              </a:pPr>
              <a:endParaRPr lang="en-US" sz="49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7128"/>
                </a:lnSpc>
              </a:pPr>
              <a:endParaRPr lang="en-US" sz="49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2800159"/>
            <a:ext cx="6894457" cy="57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9"/>
              </a:lnSpc>
            </a:pPr>
            <a:r>
              <a:rPr lang="en-US" sz="337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Societal Impact &amp; Accessibility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3081" y="4258621"/>
            <a:ext cx="14764196" cy="5213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8135" lvl="1" indent="-294067" algn="l">
              <a:lnSpc>
                <a:spcPts val="3813"/>
              </a:lnSpc>
              <a:buFont typeface="Arial"/>
              <a:buChar char="•"/>
            </a:pPr>
            <a:r>
              <a:rPr lang="en-US" sz="27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Inclusive Literacy:</a:t>
            </a:r>
            <a:r>
              <a:rPr lang="en-US" sz="27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Empowers visually impaired children and adults in Bangladesh with an affordable, self-paced learning tool.</a:t>
            </a:r>
          </a:p>
          <a:p>
            <a:pPr algn="l">
              <a:lnSpc>
                <a:spcPts val="3813"/>
              </a:lnSpc>
            </a:pPr>
            <a:endParaRPr lang="en-US" sz="27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8135" lvl="1" indent="-294067" algn="l">
              <a:lnSpc>
                <a:spcPts val="3813"/>
              </a:lnSpc>
              <a:buFont typeface="Arial"/>
              <a:buChar char="•"/>
            </a:pPr>
            <a:r>
              <a:rPr lang="en-US" sz="27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Low-Cost Accessibility: </a:t>
            </a:r>
            <a:r>
              <a:rPr lang="en-US" sz="27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using low-cost embedded hardware  as an alternative to expensive imported refreshable Braille displays.</a:t>
            </a:r>
          </a:p>
          <a:p>
            <a:pPr algn="l">
              <a:lnSpc>
                <a:spcPts val="3813"/>
              </a:lnSpc>
            </a:pPr>
            <a:endParaRPr lang="en-US" sz="27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8135" lvl="1" indent="-294067" algn="l">
              <a:lnSpc>
                <a:spcPts val="3813"/>
              </a:lnSpc>
              <a:buFont typeface="Arial"/>
              <a:buChar char="•"/>
            </a:pPr>
            <a:r>
              <a:rPr lang="en-US" sz="2724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 Privacy: </a:t>
            </a:r>
            <a:r>
              <a:rPr lang="en-US" sz="272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Runs 100% offline on-device inference without recording or uploading personal voice data to the cloud.</a:t>
            </a:r>
          </a:p>
          <a:p>
            <a:pPr algn="l">
              <a:lnSpc>
                <a:spcPts val="3813"/>
              </a:lnSpc>
            </a:pPr>
            <a:endParaRPr lang="en-US" sz="27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813"/>
              </a:lnSpc>
            </a:pPr>
            <a:endParaRPr lang="en-US" sz="27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813"/>
              </a:lnSpc>
            </a:pPr>
            <a:endParaRPr lang="en-US" sz="2724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92561" y="9742932"/>
            <a:ext cx="448810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142181" y="2656018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2181" y="4533910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42181" y="6358747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2181" y="8226028"/>
            <a:ext cx="113167" cy="383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6"/>
              </a:lnSpc>
            </a:pPr>
            <a:r>
              <a:rPr lang="en-US" sz="2040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619250" y="718147"/>
            <a:ext cx="11916161" cy="2879694"/>
            <a:chOff x="0" y="0"/>
            <a:chExt cx="15888215" cy="38395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888215" cy="3839591"/>
            </a:xfrm>
            <a:custGeom>
              <a:avLst/>
              <a:gdLst/>
              <a:ahLst/>
              <a:cxnLst/>
              <a:rect l="l" t="t" r="r" b="b"/>
              <a:pathLst>
                <a:path w="15888215" h="3839591">
                  <a:moveTo>
                    <a:pt x="0" y="0"/>
                  </a:moveTo>
                  <a:lnTo>
                    <a:pt x="15888215" y="0"/>
                  </a:lnTo>
                  <a:lnTo>
                    <a:pt x="15888215" y="3839591"/>
                  </a:lnTo>
                  <a:lnTo>
                    <a:pt x="0" y="38395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597" r="-26614" b="-2057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38100"/>
              <a:ext cx="15888215" cy="38014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92"/>
                </a:lnSpc>
              </a:pPr>
              <a:r>
                <a:rPr lang="en-US" sz="49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6.System Design Considerations (CO2-b)</a:t>
              </a:r>
            </a:p>
            <a:p>
              <a:pPr algn="l">
                <a:lnSpc>
                  <a:spcPts val="7128"/>
                </a:lnSpc>
              </a:pPr>
              <a:endParaRPr lang="en-US" sz="49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7128"/>
                </a:lnSpc>
              </a:pPr>
              <a:endParaRPr lang="en-US" sz="49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89793" y="2761870"/>
            <a:ext cx="6957106" cy="578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29"/>
              </a:lnSpc>
            </a:pPr>
            <a:r>
              <a:rPr lang="en-US" sz="3378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4. Environmental Considerations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4401" y="4258621"/>
            <a:ext cx="14772876" cy="4274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8481" lvl="1" indent="-294240" algn="l">
              <a:lnSpc>
                <a:spcPts val="3815"/>
              </a:lnSpc>
              <a:buFont typeface="Arial"/>
              <a:buChar char="•"/>
            </a:pPr>
            <a:r>
              <a:rPr lang="en-US" sz="272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Paperless Braille Education: </a:t>
            </a:r>
            <a:r>
              <a:rPr lang="en-US" sz="2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Replaces single-use, heavy embossed Braille paper sheets, significantly reducing paper waste and tree harvesting.</a:t>
            </a:r>
          </a:p>
          <a:p>
            <a:pPr algn="l">
              <a:lnSpc>
                <a:spcPts val="3815"/>
              </a:lnSpc>
            </a:pPr>
            <a:endParaRPr lang="en-US" sz="272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8481" lvl="1" indent="-294240" algn="l">
              <a:lnSpc>
                <a:spcPts val="3815"/>
              </a:lnSpc>
              <a:buFont typeface="Arial"/>
              <a:buChar char="•"/>
            </a:pPr>
            <a:r>
              <a:rPr lang="en-US" sz="272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Energy-Efficient Design: </a:t>
            </a:r>
            <a:r>
              <a:rPr lang="en-US" sz="2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 power consumption, suitable for battery and solar-powered usage in rural, off-grid areas.</a:t>
            </a:r>
          </a:p>
          <a:p>
            <a:pPr algn="l">
              <a:lnSpc>
                <a:spcPts val="3815"/>
              </a:lnSpc>
            </a:pPr>
            <a:endParaRPr lang="en-US" sz="272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8481" lvl="1" indent="-294240" algn="l">
              <a:lnSpc>
                <a:spcPts val="3815"/>
              </a:lnSpc>
              <a:buFont typeface="Arial"/>
              <a:buChar char="•"/>
            </a:pPr>
            <a:r>
              <a:rPr lang="en-US" sz="272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Compact Hardware Footprint: </a:t>
            </a:r>
            <a:r>
              <a:rPr lang="en-US" sz="272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Minimal component usage with durable, long-lasting solid-state electronics.</a:t>
            </a:r>
          </a:p>
          <a:p>
            <a:pPr algn="l">
              <a:lnSpc>
                <a:spcPts val="3815"/>
              </a:lnSpc>
            </a:pPr>
            <a:endParaRPr lang="en-US" sz="2725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25571" y="9752457"/>
            <a:ext cx="4488109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600200" y="689572"/>
            <a:ext cx="15087600" cy="1093508"/>
            <a:chOff x="0" y="0"/>
            <a:chExt cx="20116800" cy="145801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116800" cy="1457960"/>
            </a:xfrm>
            <a:custGeom>
              <a:avLst/>
              <a:gdLst/>
              <a:ahLst/>
              <a:cxnLst/>
              <a:rect l="l" t="t" r="r" b="b"/>
              <a:pathLst>
                <a:path w="20116800" h="1457960">
                  <a:moveTo>
                    <a:pt x="0" y="0"/>
                  </a:moveTo>
                  <a:lnTo>
                    <a:pt x="20116800" y="0"/>
                  </a:lnTo>
                  <a:lnTo>
                    <a:pt x="20116800" y="1457960"/>
                  </a:lnTo>
                  <a:lnTo>
                    <a:pt x="0" y="14579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18663" b="-218668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600200" y="718147"/>
            <a:ext cx="15087600" cy="1722205"/>
            <a:chOff x="0" y="0"/>
            <a:chExt cx="20116800" cy="22962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16800" cy="2296273"/>
            </a:xfrm>
            <a:custGeom>
              <a:avLst/>
              <a:gdLst/>
              <a:ahLst/>
              <a:cxnLst/>
              <a:rect l="l" t="t" r="r" b="b"/>
              <a:pathLst>
                <a:path w="20116800" h="2296273">
                  <a:moveTo>
                    <a:pt x="0" y="0"/>
                  </a:moveTo>
                  <a:lnTo>
                    <a:pt x="20116800" y="0"/>
                  </a:lnTo>
                  <a:lnTo>
                    <a:pt x="20116800" y="2296273"/>
                  </a:lnTo>
                  <a:lnTo>
                    <a:pt x="0" y="2296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783" b="-101618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20116800" cy="2267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5000">
                  <a:solidFill>
                    <a:srgbClr val="262626"/>
                  </a:solidFill>
                  <a:latin typeface="Arial"/>
                  <a:ea typeface="Arial"/>
                  <a:cs typeface="Arial"/>
                  <a:sym typeface="Arial"/>
                </a:rPr>
                <a:t>6. Sustainability &amp; Impact Evaluation(CO-4)</a:t>
              </a:r>
            </a:p>
            <a:p>
              <a:pPr algn="l">
                <a:lnSpc>
                  <a:spcPts val="5400"/>
                </a:lnSpc>
              </a:pPr>
              <a:endParaRPr lang="en-US" sz="5000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91" r="-25890" b="6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600200" y="2476896"/>
            <a:ext cx="7446141" cy="712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1. Societal Context &amp; Impact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16683" y="3659365"/>
            <a:ext cx="13395215" cy="4750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9407" lvl="1" indent="-294704" algn="l">
              <a:lnSpc>
                <a:spcPts val="3821"/>
              </a:lnSpc>
              <a:buFont typeface="Arial"/>
              <a:buChar char="•"/>
            </a:pPr>
            <a:r>
              <a:rPr lang="en-US" sz="272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Democratizing Braille Education</a:t>
            </a:r>
            <a:r>
              <a:rPr lang="en-US" sz="27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Provides an affordable local embedded solution as an alternative to expensive imported refreshable Braille displays </a:t>
            </a:r>
          </a:p>
          <a:p>
            <a:pPr algn="l">
              <a:lnSpc>
                <a:spcPts val="3821"/>
              </a:lnSpc>
            </a:pPr>
            <a:endParaRPr lang="en-US" sz="272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9407" lvl="1" indent="-294704" algn="l">
              <a:lnSpc>
                <a:spcPts val="3821"/>
              </a:lnSpc>
              <a:buFont typeface="Arial"/>
              <a:buChar char="•"/>
            </a:pPr>
            <a:r>
              <a:rPr lang="en-US" sz="272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Adaptive &amp; Inclusive Learning</a:t>
            </a:r>
            <a:r>
              <a:rPr lang="en-US" sz="27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Enables self-paced, AI-assisted learning for blind and visually impaired individuals in Bangladesh without requiring constant 1-on-1 human supervision.</a:t>
            </a:r>
          </a:p>
          <a:p>
            <a:pPr algn="l">
              <a:lnSpc>
                <a:spcPts val="3821"/>
              </a:lnSpc>
            </a:pPr>
            <a:endParaRPr lang="en-US" sz="272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89407" lvl="1" indent="-294704" algn="l">
              <a:lnSpc>
                <a:spcPts val="3821"/>
              </a:lnSpc>
              <a:buFont typeface="Arial"/>
              <a:buChar char="•"/>
            </a:pPr>
            <a:r>
              <a:rPr lang="en-US" sz="272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Social Scalability</a:t>
            </a:r>
            <a:r>
              <a:rPr lang="en-US" sz="272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Designed for easy deployment in special education schools, rural NGOs, and underprivileged communities</a:t>
            </a:r>
          </a:p>
          <a:p>
            <a:pPr algn="ctr">
              <a:lnSpc>
                <a:spcPts val="3821"/>
              </a:lnSpc>
            </a:pPr>
            <a:endParaRPr lang="en-US" sz="272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991288" y="9733407"/>
            <a:ext cx="4488109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" y="9685782"/>
            <a:ext cx="18288000" cy="619792"/>
            <a:chOff x="0" y="0"/>
            <a:chExt cx="24384000" cy="8263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826389"/>
            </a:xfrm>
            <a:custGeom>
              <a:avLst/>
              <a:gdLst/>
              <a:ahLst/>
              <a:cxnLst/>
              <a:rect l="l" t="t" r="r" b="b"/>
              <a:pathLst>
                <a:path w="24384000" h="826389">
                  <a:moveTo>
                    <a:pt x="0" y="0"/>
                  </a:moveTo>
                  <a:lnTo>
                    <a:pt x="24384000" y="0"/>
                  </a:lnTo>
                  <a:lnTo>
                    <a:pt x="24384000" y="826389"/>
                  </a:lnTo>
                  <a:lnTo>
                    <a:pt x="0" y="826389"/>
                  </a:lnTo>
                  <a:close/>
                </a:path>
              </a:pathLst>
            </a:custGeom>
            <a:solidFill>
              <a:srgbClr val="C00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15920" y="794418"/>
            <a:ext cx="13411569" cy="1722259"/>
            <a:chOff x="0" y="0"/>
            <a:chExt cx="22048854" cy="28314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48854" cy="2831423"/>
            </a:xfrm>
            <a:custGeom>
              <a:avLst/>
              <a:gdLst/>
              <a:ahLst/>
              <a:cxnLst/>
              <a:rect l="l" t="t" r="r" b="b"/>
              <a:pathLst>
                <a:path w="22048854" h="2831423">
                  <a:moveTo>
                    <a:pt x="0" y="0"/>
                  </a:moveTo>
                  <a:lnTo>
                    <a:pt x="22048854" y="0"/>
                  </a:lnTo>
                  <a:lnTo>
                    <a:pt x="22048854" y="2831423"/>
                  </a:lnTo>
                  <a:lnTo>
                    <a:pt x="0" y="28314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363" r="8762" b="-63512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22048854" cy="28028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0"/>
                </a:lnSpc>
              </a:pPr>
              <a:r>
                <a:rPr lang="en-US" sz="5000" b="1">
                  <a:solidFill>
                    <a:srgbClr val="26262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7. project management and cost analysis </a:t>
              </a:r>
            </a:p>
            <a:p>
              <a:pPr algn="l">
                <a:lnSpc>
                  <a:spcPts val="5400"/>
                </a:lnSpc>
              </a:pPr>
              <a:endParaRPr lang="en-US" sz="5000" b="1">
                <a:solidFill>
                  <a:srgbClr val="262626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16425" y="9752457"/>
            <a:ext cx="782955" cy="462791"/>
            <a:chOff x="0" y="0"/>
            <a:chExt cx="1043940" cy="6170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3940" cy="617093"/>
            </a:xfrm>
            <a:custGeom>
              <a:avLst/>
              <a:gdLst/>
              <a:ahLst/>
              <a:cxnLst/>
              <a:rect l="l" t="t" r="r" b="b"/>
              <a:pathLst>
                <a:path w="1043940" h="617093">
                  <a:moveTo>
                    <a:pt x="0" y="0"/>
                  </a:moveTo>
                  <a:lnTo>
                    <a:pt x="1043940" y="0"/>
                  </a:lnTo>
                  <a:lnTo>
                    <a:pt x="1043940" y="617093"/>
                  </a:lnTo>
                  <a:lnTo>
                    <a:pt x="0" y="6170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891" r="-25890" b="6"/>
              </a:stretch>
            </a:blipFill>
          </p:spPr>
        </p:sp>
      </p:grpSp>
      <p:graphicFrame>
        <p:nvGraphicFramePr>
          <p:cNvPr id="9" name="Object 9"/>
          <p:cNvGraphicFramePr/>
          <p:nvPr>
            <p:extLst>
              <p:ext uri="{D42A27DB-BD31-4B8C-83A1-F6EECF244321}">
                <p14:modId xmlns:p14="http://schemas.microsoft.com/office/powerpoint/2010/main" val="1361836419"/>
              </p:ext>
            </p:extLst>
          </p:nvPr>
        </p:nvGraphicFramePr>
        <p:xfrm>
          <a:off x="3441454" y="1971674"/>
          <a:ext cx="8217146" cy="675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Worksheet" r:id="rId5" imgW="9042400" imgH="7785100" progId="Excel.Sheet.12">
                  <p:embed/>
                </p:oleObj>
              </mc:Choice>
              <mc:Fallback>
                <p:oleObj name="Worksheet" r:id="rId5" imgW="9042400" imgH="77851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41454" y="1971674"/>
                        <a:ext cx="8217146" cy="675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933353" y="9699103"/>
            <a:ext cx="6819271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EEE 416 (2026) – Final Project Group 08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62744" y="9733407"/>
            <a:ext cx="4488109" cy="428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i="1">
                <a:solidFill>
                  <a:srgbClr val="FFFF0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Presented by: 2106065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874</Words>
  <Application>Microsoft Office PowerPoint</Application>
  <PresentationFormat>Custom</PresentationFormat>
  <Paragraphs>203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7" baseType="lpstr">
      <vt:lpstr>Canva Sans Bold</vt:lpstr>
      <vt:lpstr>Poppins Medium</vt:lpstr>
      <vt:lpstr>Calibri</vt:lpstr>
      <vt:lpstr>Roboto</vt:lpstr>
      <vt:lpstr>Barlow Semi-Bold</vt:lpstr>
      <vt:lpstr>HK Grotesk Semi-Bold</vt:lpstr>
      <vt:lpstr>Lato Bold</vt:lpstr>
      <vt:lpstr>Canva Sans Medium</vt:lpstr>
      <vt:lpstr>Arial Bold</vt:lpstr>
      <vt:lpstr>Century Gothic Paneuropean</vt:lpstr>
      <vt:lpstr>Canva Sans</vt:lpstr>
      <vt:lpstr>Arial</vt:lpstr>
      <vt:lpstr>Century Gothic Paneuropean Bold</vt:lpstr>
      <vt:lpstr>Poppins Bold</vt:lpstr>
      <vt:lpstr>HK Grotesk Medium</vt:lpstr>
      <vt:lpstr>Arial Italics</vt:lpstr>
      <vt:lpstr>Barlow Light</vt:lpstr>
      <vt:lpstr>Roboto Bold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EEExxx-Final-Project-FinalDemo-Template.pptx.pptx</dc:title>
  <dc:creator>Adib Hasan</dc:creator>
  <cp:lastModifiedBy>Microsoft account</cp:lastModifiedBy>
  <cp:revision>5</cp:revision>
  <dcterms:created xsi:type="dcterms:W3CDTF">2006-08-16T00:00:00Z</dcterms:created>
  <dcterms:modified xsi:type="dcterms:W3CDTF">2026-08-01T08:43:28Z</dcterms:modified>
  <dc:identifier>DAHQ98oRMiU</dc:identifier>
</cp:coreProperties>
</file>