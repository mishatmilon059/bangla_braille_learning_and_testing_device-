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34"/>
  </p:notesMasterIdLst>
  <p:handoutMasterIdLst>
    <p:handoutMasterId r:id="rId35"/>
  </p:handoutMasterIdLst>
  <p:sldIdLst>
    <p:sldId id="256" r:id="rId2"/>
    <p:sldId id="272" r:id="rId3"/>
    <p:sldId id="280" r:id="rId4"/>
    <p:sldId id="257" r:id="rId5"/>
    <p:sldId id="292" r:id="rId6"/>
    <p:sldId id="293" r:id="rId7"/>
    <p:sldId id="294" r:id="rId8"/>
    <p:sldId id="295" r:id="rId9"/>
    <p:sldId id="258" r:id="rId10"/>
    <p:sldId id="276" r:id="rId11"/>
    <p:sldId id="296" r:id="rId13"/>
    <p:sldId id="297" r:id="rId14"/>
    <p:sldId id="277" r:id="rId16"/>
    <p:sldId id="290" r:id="rId17"/>
    <p:sldId id="279" r:id="rId18"/>
    <p:sldId id="281" r:id="rId19"/>
    <p:sldId id="298" r:id="rId20"/>
    <p:sldId id="299" r:id="rId21"/>
    <p:sldId id="300" r:id="rId22"/>
    <p:sldId id="301" r:id="rId23"/>
    <p:sldId id="302" r:id="rId24"/>
    <p:sldId id="303" r:id="rId25"/>
    <p:sldId id="286" r:id="rId26"/>
    <p:sldId id="287" r:id="rId27"/>
    <p:sldId id="288" r:id="rId28"/>
    <p:sldId id="289" r:id="rId29"/>
    <p:sldId id="304" r:id="rId30"/>
    <p:sldId id="305" r:id="rId31"/>
    <p:sldId id="306" r:id="rId32"/>
    <p:sldId id="268" r:id="rId33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5153"/>
  </p:normalViewPr>
  <p:slideViewPr>
    <p:cSldViewPr snapToGrid="0" snapToObjects="1">
      <p:cViewPr varScale="1">
        <p:scale>
          <a:sx n="61" d="100"/>
          <a:sy n="61" d="100"/>
        </p:scale>
        <p:origin x="39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0F265C-9DF2-E8FB-C281-49A95720C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88A12-072E-E9DD-75D8-792036B5C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F0298-9D9B-42EE-9FBC-5BF5BA8C94E8}" type="datetimeFigureOut">
              <a:rPr lang="en-GB" smtClean="0"/>
              <a:t>12/06/2023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86D79-EFC6-014D-40F3-68F8FB024E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A9D36-8240-DBBB-128E-9E573BE9A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436C1-A97E-48B9-A38A-E4B8449736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0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15EC-E103-EA4C-8F3D-F70BFBFE368F}" type="datetimeFigureOut">
              <a:rPr lang="en-BD" smtClean="0"/>
              <a:t>06/12/2023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D39E-BF79-5044-9B9C-292D64001D9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0034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Title of the Project</a:t>
            </a:r>
            <a:endParaRPr lang="en-BD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C9C879-EF2D-BA4E-B6A9-D4377737278E}"/>
              </a:ext>
            </a:extLst>
          </p:cNvPr>
          <p:cNvSpPr/>
          <p:nvPr userDrawn="1"/>
        </p:nvSpPr>
        <p:spPr>
          <a:xfrm>
            <a:off x="0" y="0"/>
            <a:ext cx="12192000" cy="15622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EEE 416 – Microprocessor and Embedded Systems Laboratory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Jan 2026, Level 4 – Term I, Section A2</a:t>
            </a:r>
            <a:endParaRPr lang="en-BD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BD" sz="3600" dirty="0">
                <a:latin typeface="Arial" panose="020B0604020202020204" pitchFamily="34" charset="0"/>
                <a:cs typeface="Arial" panose="020B0604020202020204" pitchFamily="34" charset="0"/>
              </a:rPr>
              <a:t>Final Project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99C6A4-662A-4C47-AB70-4A7A449F40AE}"/>
              </a:ext>
            </a:extLst>
          </p:cNvPr>
          <p:cNvSpPr/>
          <p:nvPr userDrawn="1"/>
        </p:nvSpPr>
        <p:spPr>
          <a:xfrm>
            <a:off x="0" y="5968657"/>
            <a:ext cx="12192000" cy="8893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865755" algn="ctr"/>
                <a:tab pos="5731510" algn="r"/>
              </a:tabLst>
            </a:pPr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Bangladesh University of Engineering and Technology</a:t>
            </a: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Department of Electrical and Electronic Engineering</a:t>
            </a:r>
            <a:endParaRPr lang="en-BD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B5FDC4-269D-0A46-8DED-E482158D83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048"/>
          <a:stretch/>
        </p:blipFill>
        <p:spPr>
          <a:xfrm>
            <a:off x="1682496" y="6046044"/>
            <a:ext cx="793630" cy="7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2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BD"/>
              <a:t>Title of the Project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21943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7A532869-E847-B04C-9454-B1BBC68D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9C3B094-71D1-654C-855E-07B8BFC1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23745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3AA596F9-6385-224E-8B6A-50967833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1CB05F73-B36B-5A48-81EA-E76B1357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18402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A8BE3A-860F-304A-9628-0D1C6721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F763A-9E9F-6745-958E-87128C40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44822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7E522AF0-01E9-C04B-A4BD-1E790BA6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FE88DDB-FE65-5846-A692-EED395E9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9704782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2.png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52ED7D-C8C9-FC45-9D41-2B197068D5F8}"/>
              </a:ext>
            </a:extLst>
          </p:cNvPr>
          <p:cNvSpPr/>
          <p:nvPr userDrawn="1"/>
        </p:nvSpPr>
        <p:spPr>
          <a:xfrm>
            <a:off x="1" y="6457189"/>
            <a:ext cx="12192000" cy="413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93520"/>
            <a:ext cx="10058400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50" y="6501638"/>
            <a:ext cx="521970" cy="3085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083A58-BF4A-C247-A39E-31621332A2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84048"/>
          <a:stretch/>
        </p:blipFill>
        <p:spPr>
          <a:xfrm>
            <a:off x="51125" y="6457189"/>
            <a:ext cx="381361" cy="352979"/>
          </a:xfrm>
          <a:prstGeom prst="rect">
            <a:avLst/>
          </a:prstGeom>
        </p:spPr>
      </p:pic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576C60AE-BF9F-E948-A464-57EC6013B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486" y="6501637"/>
            <a:ext cx="3968064" cy="3941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EEE </a:t>
            </a:r>
            <a:r>
              <a:rPr lang="en-US" dirty="0" err="1"/>
              <a:t>xyz</a:t>
            </a:r>
            <a:r>
              <a:rPr lang="en-US" dirty="0"/>
              <a:t> (202z) – Final Project Group A.XY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DCD1120D-AD02-624F-AC7B-A52A109EC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00550" y="6507645"/>
            <a:ext cx="5000625" cy="375412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15582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3" r:id="rId3"/>
    <p:sldLayoutId id="2147483714" r:id="rId4"/>
    <p:sldLayoutId id="2147483715" r:id="rId5"/>
    <p:sldLayoutId id="2147483716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Relationship Id="rId3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ee.buet.ac.bd/academics/undergraduate/peo-po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B74ABDA-11C0-7C43-8041-3445AA68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6919" y="5631180"/>
            <a:ext cx="2111881" cy="228600"/>
          </a:xfrm>
        </p:spPr>
        <p:txBody>
          <a:bodyPr/>
          <a:lstStyle/>
          <a:p>
            <a:fld id="{E9C29D53-9981-884B-B5B6-B5743DF81FD1}" type="slidenum">
              <a:rPr lang="en-BD" smtClean="0"/>
              <a:t>1</a:t>
            </a:fld>
            <a:endParaRPr lang="en-BD"/>
          </a:p>
        </p:txBody>
      </p:sp>
      <p:sp>
        <p:nvSpPr>
          <p:cNvPr id="14" name="TextBox 13"/>
          <p:cNvSpPr txBox="1"/>
          <p:nvPr/>
        </p:nvSpPr>
        <p:spPr>
          <a:xfrm>
            <a:off x="502920" y="169164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mbria"/>
              </a:rPr>
              <a:t>AI Driven Bangla Braille Learning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359152"/>
            <a:ext cx="962863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CBD5E1"/>
                </a:solidFill>
                <a:latin typeface="Calibri"/>
              </a:rPr>
              <a:t>A TinyML system that teaches Bangla Braille and reasons about the learner entirely offline on a $10 device.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2606040" cy="8229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600" b="1">
                <a:solidFill>
                  <a:srgbClr val="0D9488"/>
                </a:solidFill>
                <a:latin typeface="Cambria"/>
              </a:rPr>
              <a:t>1,734 params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  <a:latin typeface="Calibri"/>
              </a:rPr>
              <a:t>trainable parameters (dual-head net)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926080"/>
            <a:ext cx="2606040" cy="8229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Cambria"/>
              </a:rPr>
              <a:t>6,936 B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  <a:latin typeface="Calibri"/>
              </a:rPr>
              <a:t>raw float32 model weights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926080"/>
            <a:ext cx="2606040" cy="8229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600" b="1">
                <a:solidFill>
                  <a:srgbClr val="7C3AED"/>
                </a:solidFill>
                <a:latin typeface="Cambria"/>
              </a:rPr>
              <a:t>98.6% / 91.4%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  <a:latin typeface="Calibri"/>
              </a:rPr>
              <a:t>teaching / confidence accuracy (real-only)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926080"/>
            <a:ext cx="2606040" cy="8229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600" b="1">
                <a:solidFill>
                  <a:srgbClr val="EA580C"/>
                </a:solidFill>
                <a:latin typeface="Cambria"/>
              </a:rPr>
              <a:t>50 / 50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  <a:latin typeface="Calibri"/>
              </a:rPr>
              <a:t>BNBC Braille characters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77639"/>
            <a:ext cx="962863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Team · Group 08 · Section A2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434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E2E8F0"/>
                </a:solidFill>
                <a:latin typeface="Calibri"/>
              </a:rPr>
              <a:t>Santu Nag · 2106055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43434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E2E8F0"/>
                </a:solidFill>
                <a:latin typeface="Calibri"/>
              </a:rPr>
              <a:t>Md. Adib Hasan Audhi · 2106056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43434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E2E8F0"/>
                </a:solidFill>
                <a:latin typeface="Calibri"/>
              </a:rPr>
              <a:t>Mishat Hasan Milon · 2106059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43434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E2E8F0"/>
                </a:solidFill>
                <a:latin typeface="Calibri"/>
              </a:rPr>
              <a:t>Khalid Mehebub · 2106065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74920"/>
            <a:ext cx="962863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94A3B8"/>
                </a:solidFill>
                <a:latin typeface="Calibri"/>
              </a:rPr>
              <a:t>EEE 416 — Final Project Demo · Group 08 · Section A2 · Dept of EEE, BUET</a:t>
            </a:r>
          </a:p>
        </p:txBody>
      </p:sp>
    </p:spTree>
    <p:extLst>
      <p:ext uri="{BB962C8B-B14F-4D97-AF65-F5344CB8AC3E}">
        <p14:creationId xmlns:p14="http://schemas.microsoft.com/office/powerpoint/2010/main" val="277824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16421-CA9E-E344-9555-2F9A2A51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EB6EC-D213-9F48-8356-86C62AC1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B0E6E-7910-2644-9BBD-C431B66B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800" b="1">
                <a:solidFill>
                  <a:srgbClr val="111827"/>
                </a:solidFill>
                <a:latin typeface="Cambria"/>
              </a:rPr>
              <a:t>Outline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6002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18488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496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Introduction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392424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10712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Design (Methodology)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288536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06824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Implementation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8464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02936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Analysis &amp; Evaluation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618488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Reflection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2496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Communication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392424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410712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Cost &amp; Management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4288536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306824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Future Work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5184648"/>
            <a:ext cx="457200" cy="4572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202936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827"/>
                </a:solidFill>
                <a:latin typeface="Calibri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09732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</a:t>
            </a:fld>
            <a:endParaRPr lang="en-BD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Cambria"/>
              </a:rPr>
              <a:t>1. Summary / 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212080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11827"/>
                </a:solidFill>
                <a:latin typeface="Calibri"/>
              </a:rPr>
              <a:t>The system teaches Bangla Braille through synchronized audio and vibration feedback, logging every attempt as 14 behavioral features. A small adaptive dual-head network is trained on that logged data and deployed fully offline on an ESP32 microcontroller — no cloud, no network dependency.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5212080" cy="1417320"/>
          </a:xfrm>
          <a:prstGeom prst="roundRect">
            <a:avLst>
              <a:gd name="adj" fmla="val 45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840480"/>
            <a:ext cx="4809744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Stated plainly: the model reproduces a hand-written teaching-policy rule engine (98.6% / 91.4% real-only agreement) — a genuine embedded-ML compression result, not autonomous discovery of teaching strategy.</a:t>
            </a:r>
          </a:p>
        </p:txBody>
      </p:sp>
      <p:pic>
        <p:nvPicPr>
          <p:cNvPr id="13" name="Picture 12" descr="01_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73165"/>
            <a:ext cx="5562295" cy="31287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0" y="5349240"/>
            <a:ext cx="55622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System overview: sensing → on-device model → teaching action</a:t>
            </a:r>
          </a:p>
        </p:txBody>
      </p:sp>
    </p:spTree>
    <p:extLst>
      <p:ext uri="{BB962C8B-B14F-4D97-AF65-F5344CB8AC3E}">
        <p14:creationId xmlns:p14="http://schemas.microsoft.com/office/powerpoint/2010/main" val="227855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</a:t>
            </a:fld>
            <a:endParaRPr lang="en-BD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800" b="1">
                <a:solidFill>
                  <a:srgbClr val="111827"/>
                </a:solidFill>
                <a:latin typeface="Cambria"/>
              </a:rPr>
              <a:t>2.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600"/>
              </a:spcAft>
              <a:buClr>
                <a:srgbClr val="2563EB"/>
              </a:buClr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Calibri"/>
              </a:rPr>
              <a:t>The problem: </a:t>
            </a:r>
            <a:r>
              <a:rPr sz="1500">
                <a:solidFill>
                  <a:srgbClr val="111827"/>
                </a:solidFill>
                <a:latin typeface="Calibri"/>
              </a:rPr>
              <a:t>Bangla-speaking visually-impaired learners lack an affordable, adaptive Braille-learning tool.</a:t>
            </a:r>
          </a:p>
          <a:p>
            <a:pPr marL="201168" indent="-201168">
              <a:lnSpc>
                <a:spcPct val="120000"/>
              </a:lnSpc>
              <a:spcAft>
                <a:spcPts val="1600"/>
              </a:spcAft>
              <a:buClr>
                <a:srgbClr val="2563EB"/>
              </a:buClr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Calibri"/>
              </a:rPr>
              <a:t>Existing hardware kits </a:t>
            </a:r>
            <a:r>
              <a:rPr sz="1500">
                <a:solidFill>
                  <a:srgbClr val="111827"/>
                </a:solidFill>
                <a:latin typeface="Calibri"/>
              </a:rPr>
              <a:t>(see literature review) are either costly, lack practice/testing modes, or have no adaptive intelligence.</a:t>
            </a:r>
          </a:p>
          <a:p>
            <a:pPr marL="201168" indent="-201168">
              <a:lnSpc>
                <a:spcPct val="120000"/>
              </a:lnSpc>
              <a:spcAft>
                <a:spcPts val="1600"/>
              </a:spcAft>
              <a:buClr>
                <a:srgbClr val="2563EB"/>
              </a:buClr>
              <a:buFont typeface="Arial"/>
              <a:buChar char="•"/>
            </a:pPr>
            <a:r>
              <a:rPr b="1" sz="1500">
                <a:solidFill>
                  <a:srgbClr val="111827"/>
                </a:solidFill>
                <a:latin typeface="Calibri"/>
              </a:rPr>
              <a:t>This project's angle: </a:t>
            </a:r>
            <a:r>
              <a:rPr sz="1500">
                <a:solidFill>
                  <a:srgbClr val="111827"/>
                </a:solidFill>
                <a:latin typeface="Calibri"/>
              </a:rPr>
              <a:t>low-cost ESP32 hardware + an on-device model that adapts REPEAT / HINT / NORMAL_PRACTICE teaching decisions to the individual learner.</a:t>
            </a:r>
          </a:p>
        </p:txBody>
      </p:sp>
      <p:pic>
        <p:nvPicPr>
          <p:cNvPr id="11" name="Picture 10" descr="09_classroom_intera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07480"/>
            <a:ext cx="5379415" cy="302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9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5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700" b="1">
                <a:solidFill>
                  <a:srgbClr val="111827"/>
                </a:solidFill>
                <a:latin typeface="Cambria"/>
              </a:rPr>
              <a:t>3.1.1 Problem Formulation: Identification of Scope (PO(b))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32907" cy="4297680"/>
          </a:xfrm>
          <a:prstGeom prst="roundRect">
            <a:avLst>
              <a:gd name="adj" fmla="val 45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37360"/>
            <a:ext cx="5030571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D9488"/>
                </a:solidFill>
                <a:latin typeface="Calibri"/>
              </a:rP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67128"/>
            <a:ext cx="5030571" cy="3566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Teach and assess all 50 BNBC Braille characters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Log interaction data suitable for model training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Run inference fully offline with zero network dependency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Keep total BOM cost under ~1,300 BDT (~$11)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1600200"/>
            <a:ext cx="5432907" cy="4297680"/>
          </a:xfrm>
          <a:prstGeom prst="roundRect">
            <a:avLst>
              <a:gd name="adj" fmla="val 4500"/>
            </a:avLst>
          </a:prstGeom>
          <a:solidFill>
            <a:srgbClr val="F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7035" y="1737360"/>
            <a:ext cx="5030571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B2777"/>
                </a:solidFill>
                <a:latin typeface="Calibri"/>
              </a:rPr>
              <a:t>Explicitly out of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035" y="2167128"/>
            <a:ext cx="5030571" cy="3566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DB2777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Multi-language Braille support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DB2777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Refreshable / multi-cell physical Braille display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DB2777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Therapist-facing analytics dashboard (partially covered by the planned teacher app)</a:t>
            </a:r>
          </a:p>
        </p:txBody>
      </p:sp>
    </p:spTree>
    <p:extLst>
      <p:ext uri="{BB962C8B-B14F-4D97-AF65-F5344CB8AC3E}">
        <p14:creationId xmlns:p14="http://schemas.microsoft.com/office/powerpoint/2010/main" val="317586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6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Cambria"/>
              </a:rPr>
              <a:t>3.1.2 Literature Review (PO(b))</a:t>
            </a:r>
          </a:p>
        </p:txBody>
      </p:sp>
      <p:pic>
        <p:nvPicPr>
          <p:cNvPr id="10" name="Picture 9" descr="13_literatur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727" y="1417320"/>
            <a:ext cx="674624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5349240"/>
            <a:ext cx="11185855" cy="777240"/>
          </a:xfrm>
          <a:prstGeom prst="roundRect">
            <a:avLst>
              <a:gd name="adj" fmla="val 4500"/>
            </a:avLst>
          </a:prstGeom>
          <a:solidFill>
            <a:srgbClr val="F5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6811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111827"/>
                </a:solidFill>
                <a:latin typeface="Calibri"/>
              </a:rPr>
              <a:t>The gap this project fills: none of the three prior works combine Bangla-specific content, adaptive ML-driven teaching decisions, AND a low-cost fully-offline embedded deployment.</a:t>
            </a:r>
          </a:p>
        </p:txBody>
      </p:sp>
    </p:spTree>
    <p:extLst>
      <p:ext uri="{BB962C8B-B14F-4D97-AF65-F5344CB8AC3E}">
        <p14:creationId xmlns:p14="http://schemas.microsoft.com/office/powerpoint/2010/main" val="2505768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7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Cambria"/>
              </a:rPr>
              <a:t>3.1.3 Formulation of Problem (PO(b))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11827"/>
                </a:solidFill>
                <a:latin typeface="Calibri"/>
              </a:rPr>
              <a:t>Given a stream of per-attempt behavioral features, select a teaching action and estimate learner confidence in real time — under a hard constraint of on-device inference with no cloud round-trip and a memory budget under 10 KB.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3454298" cy="1508760"/>
          </a:xfrm>
          <a:prstGeom prst="roundRect">
            <a:avLst>
              <a:gd name="adj" fmla="val 4500"/>
            </a:avLst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450">
                <a:solidFill>
                  <a:srgbClr val="2563EB"/>
                </a:solidFill>
                <a:latin typeface="Calibri"/>
              </a:rPr>
              <a:t>Behavioral features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111827"/>
                </a:solidFill>
                <a:latin typeface="Calibri"/>
              </a:rPr>
              <a:t>response time, retries,
streaks, mastery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84650" y="3268980"/>
            <a:ext cx="356616" cy="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68698" y="2514600"/>
            <a:ext cx="3454298" cy="1508760"/>
          </a:xfrm>
          <a:prstGeom prst="roundRect">
            <a:avLst>
              <a:gd name="adj" fmla="val 45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450">
                <a:solidFill>
                  <a:srgbClr val="0D9488"/>
                </a:solidFill>
                <a:latin typeface="Calibri"/>
              </a:rPr>
              <a:t>On-device model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111827"/>
                </a:solidFill>
                <a:latin typeface="Calibri"/>
              </a:rPr>
              <a:t>&lt;10 KB · no cloud
round-trip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0428" y="3268980"/>
            <a:ext cx="356616" cy="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34476" y="2514600"/>
            <a:ext cx="3454298" cy="1508760"/>
          </a:xfrm>
          <a:prstGeom prst="roundRect">
            <a:avLst>
              <a:gd name="adj" fmla="val 4500"/>
            </a:avLst>
          </a:prstGeom>
          <a:solidFill>
            <a:srgbClr val="FE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450">
                <a:solidFill>
                  <a:srgbClr val="EA580C"/>
                </a:solidFill>
                <a:latin typeface="Calibri"/>
              </a:rPr>
              <a:t>Decision output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111827"/>
                </a:solidFill>
                <a:latin typeface="Calibri"/>
              </a:rPr>
              <a:t>teaching action +
confidence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11185855" cy="1280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2000"/>
              </a:lnSpc>
              <a:spcAft>
                <a:spcPts val="1000"/>
              </a:spcAft>
              <a:buClr>
                <a:srgbClr val="7C3AED"/>
              </a:buClr>
              <a:buFont typeface="Arial"/>
              <a:buChar char="•"/>
            </a:pPr>
            <a:r>
              <a:rPr b="1" sz="1450">
                <a:solidFill>
                  <a:srgbClr val="111827"/>
                </a:solidFill>
                <a:latin typeface="Calibri"/>
              </a:rPr>
              <a:t>Teaching action (3 classes): </a:t>
            </a:r>
            <a:r>
              <a:rPr sz="1450">
                <a:solidFill>
                  <a:srgbClr val="111827"/>
                </a:solidFill>
                <a:latin typeface="Calibri"/>
              </a:rPr>
              <a:t>REPEAT, HINT, NORMAL_PRACTICE</a:t>
            </a:r>
          </a:p>
          <a:p>
            <a:pPr marL="201168" indent="-201168">
              <a:lnSpc>
                <a:spcPct val="112000"/>
              </a:lnSpc>
              <a:spcAft>
                <a:spcPts val="1000"/>
              </a:spcAft>
              <a:buClr>
                <a:srgbClr val="7C3AED"/>
              </a:buClr>
              <a:buFont typeface="Arial"/>
              <a:buChar char="•"/>
            </a:pPr>
            <a:r>
              <a:rPr b="1" sz="1450">
                <a:solidFill>
                  <a:srgbClr val="111827"/>
                </a:solidFill>
                <a:latin typeface="Calibri"/>
              </a:rPr>
              <a:t>Confidence state (3 classes): </a:t>
            </a:r>
            <a:r>
              <a:rPr sz="1450">
                <a:solidFill>
                  <a:srgbClr val="111827"/>
                </a:solidFill>
                <a:latin typeface="Calibri"/>
              </a:rPr>
              <a:t>CONFIDENT, HESITANT, GUESSING</a:t>
            </a:r>
          </a:p>
        </p:txBody>
      </p:sp>
    </p:spTree>
    <p:extLst>
      <p:ext uri="{BB962C8B-B14F-4D97-AF65-F5344CB8AC3E}">
        <p14:creationId xmlns:p14="http://schemas.microsoft.com/office/powerpoint/2010/main" val="100168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8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Cambria"/>
              </a:rPr>
              <a:t>3.1.4 Analysis (PO(b))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120640" cy="4206240"/>
          </a:xfrm>
          <a:prstGeom prst="roundRect">
            <a:avLst>
              <a:gd name="adj" fmla="val 45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D9488"/>
                </a:solidFill>
                <a:latin typeface="Calibri"/>
              </a:rPr>
              <a:t>Key engineering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11827"/>
                </a:solidFill>
                <a:latin typeface="Calibri"/>
              </a:rPr>
              <a:t>There is deliberately NO “is_correct” input feature. current_streak / wrong_streak are sampled AFTER scoring, so correctness is already implied (exactly one is non-zero). This is what lets the network reproduce every rule the engine applies without being told the answer directly.</a:t>
            </a:r>
          </a:p>
        </p:txBody>
      </p:sp>
      <p:pic>
        <p:nvPicPr>
          <p:cNvPr id="13" name="Picture 12" descr="03_features_and_label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29709"/>
            <a:ext cx="5653735" cy="318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9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Cambria"/>
              </a:rPr>
              <a:t>3.2 Design Methods (PO(a))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85855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400">
                <a:solidFill>
                  <a:srgbClr val="111827"/>
                </a:solidFill>
                <a:latin typeface="Calibri"/>
              </a:rPr>
              <a:t>Architecture: </a:t>
            </a:r>
            <a:r>
              <a:rPr sz="1400">
                <a:solidFill>
                  <a:srgbClr val="111827"/>
                </a:solidFill>
                <a:latin typeface="Calibri"/>
              </a:rPr>
              <a:t>two independent networks (not a shared trunk) — Teaching-Action net and Confidence-State net, each Input(8) → Dense(32, ReLU) → Dense(16, ReLU) → Dense(3, softmax).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400">
                <a:solidFill>
                  <a:srgbClr val="111827"/>
                </a:solidFill>
                <a:latin typeface="Calibri"/>
              </a:rPr>
              <a:t>Model choice: </a:t>
            </a:r>
            <a:r>
              <a:rPr sz="1400">
                <a:solidFill>
                  <a:srgbClr val="111827"/>
                </a:solidFill>
                <a:latin typeface="Calibri"/>
              </a:rPr>
              <a:t>sklearn MLPClassifier — TensorFlow is incompatible with Python 3.12 on this Windows dev box.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400">
                <a:solidFill>
                  <a:srgbClr val="111827"/>
                </a:solidFill>
                <a:latin typeface="Calibri"/>
              </a:rPr>
              <a:t>Pipeline: </a:t>
            </a:r>
            <a:r>
              <a:rPr sz="1400">
                <a:solidFill>
                  <a:srgbClr val="111827"/>
                </a:solidFill>
                <a:latin typeface="Calibri"/>
              </a:rPr>
              <a:t>collect logs → train sklearn MLPs → export as raw C float32 arrays → flash firmware for on-device inference.</a:t>
            </a:r>
          </a:p>
        </p:txBody>
      </p:sp>
      <p:pic>
        <p:nvPicPr>
          <p:cNvPr id="11" name="Picture 10" descr="05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63" y="3429000"/>
            <a:ext cx="4632960" cy="2606040"/>
          </a:xfrm>
          <a:prstGeom prst="rect">
            <a:avLst/>
          </a:prstGeom>
        </p:spPr>
      </p:pic>
      <p:pic>
        <p:nvPicPr>
          <p:cNvPr id="12" name="Picture 11" descr="07_training_to_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270" y="3429000"/>
            <a:ext cx="4632960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75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10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Cambria"/>
              </a:rPr>
              <a:t>3.3 Design: Circuit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029200" cy="4754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250">
                <a:solidFill>
                  <a:srgbClr val="111827"/>
                </a:solidFill>
                <a:latin typeface="Calibri"/>
              </a:rPr>
              <a:t>Buttons (dots 1-6): </a:t>
            </a:r>
            <a:r>
              <a:rPr sz="1250">
                <a:solidFill>
                  <a:srgbClr val="111827"/>
                </a:solidFill>
                <a:latin typeface="Calibri"/>
              </a:rPr>
              <a:t>GPIO 32, 33, 25, 26, 27, 14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250">
                <a:solidFill>
                  <a:srgbClr val="111827"/>
                </a:solidFill>
                <a:latin typeface="Calibri"/>
              </a:rPr>
              <a:t>Motors 1-6 → ULN2803A: </a:t>
            </a:r>
            <a:r>
              <a:rPr sz="1250">
                <a:solidFill>
                  <a:srgbClr val="111827"/>
                </a:solidFill>
                <a:latin typeface="Calibri"/>
              </a:rPr>
              <a:t>GPIO 21, 13, 22, 2, 15, 4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250">
                <a:solidFill>
                  <a:srgbClr val="111827"/>
                </a:solidFill>
                <a:latin typeface="Calibri"/>
              </a:rPr>
              <a:t>Submit (strapping pin): </a:t>
            </a:r>
            <a:r>
              <a:rPr sz="1250">
                <a:solidFill>
                  <a:srgbClr val="111827"/>
                </a:solidFill>
                <a:latin typeface="Calibri"/>
              </a:rPr>
              <a:t>GPIO 12 — must read LOW at boot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250">
                <a:solidFill>
                  <a:srgbClr val="111827"/>
                </a:solidFill>
                <a:latin typeface="Calibri"/>
              </a:rPr>
              <a:t>DFPlayer UART2: </a:t>
            </a:r>
            <a:r>
              <a:rPr sz="1250">
                <a:solidFill>
                  <a:srgbClr val="111827"/>
                </a:solidFill>
                <a:latin typeface="Calibri"/>
              </a:rPr>
              <a:t>RX = 16, TX = 17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250">
                <a:solidFill>
                  <a:srgbClr val="111827"/>
                </a:solidFill>
                <a:latin typeface="Calibri"/>
              </a:rPr>
              <a:t>microSD (VSPI): </a:t>
            </a:r>
            <a:r>
              <a:rPr sz="1250">
                <a:solidFill>
                  <a:srgbClr val="111827"/>
                </a:solidFill>
                <a:latin typeface="Calibri"/>
              </a:rPr>
              <a:t>CLK 18, MISO 19, MOSI 23, CS 5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250">
                <a:solidFill>
                  <a:srgbClr val="111827"/>
                </a:solidFill>
                <a:latin typeface="Calibri"/>
              </a:rPr>
              <a:t>Power budget: </a:t>
            </a:r>
            <a:r>
              <a:rPr sz="1250">
                <a:solidFill>
                  <a:srgbClr val="111827"/>
                </a:solidFill>
                <a:latin typeface="Calibri"/>
              </a:rPr>
              <a:t>~800 mA peak (6 motors ~480 mA + ESP32 ~80 mA + DFPlayer ~200 mA); needs 5V/2A supply + 1000 µF cap across the motor rail.</a:t>
            </a:r>
          </a:p>
          <a:p>
            <a:pPr marL="201168" indent="-201168">
              <a:lnSpc>
                <a:spcPct val="112000"/>
              </a:lnSpc>
              <a:spcAft>
                <a:spcPts val="800"/>
              </a:spcAft>
              <a:buClr>
                <a:srgbClr val="EA580C"/>
              </a:buClr>
              <a:buFont typeface="Arial"/>
              <a:buChar char="•"/>
            </a:pPr>
            <a:r>
              <a:rPr b="1" sz="1250">
                <a:solidFill>
                  <a:srgbClr val="111827"/>
                </a:solidFill>
                <a:latin typeface="Calibri"/>
              </a:rPr>
              <a:t>Protection: </a:t>
            </a:r>
            <a:r>
              <a:rPr sz="1250">
                <a:solidFill>
                  <a:srgbClr val="111827"/>
                </a:solidFill>
                <a:latin typeface="Calibri"/>
              </a:rPr>
              <a:t>ULN2803A has built-in flyback diodes (COM tied to +5V) — without it, driving inductive coin motors off bare GPIO destroys pins.</a:t>
            </a:r>
          </a:p>
        </p:txBody>
      </p:sp>
      <p:pic>
        <p:nvPicPr>
          <p:cNvPr id="11" name="Picture 10" descr="08_hardwar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166071"/>
            <a:ext cx="5790895" cy="325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1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12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C602F4CA-DD7B-CF49-91E1-C48A0A66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1B64B1C5-C192-DE4C-902D-771BC68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Cambria"/>
              </a:rPr>
              <a:t>3.5 CAD / Hardware Design — Bill of Materials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173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0000"/>
              </a:lnSpc>
              <a:spcAft>
                <a:spcPts val="600"/>
              </a:spcAft>
              <a:buClr>
                <a:srgbClr val="EA580C"/>
              </a:buClr>
              <a:buFont typeface="Arial"/>
              <a:buChar char="•"/>
            </a:pPr>
            <a:r>
              <a:rPr sz="1300">
                <a:solidFill>
                  <a:srgbClr val="111827"/>
                </a:solidFill>
                <a:latin typeface="Calibri"/>
              </a:rPr>
              <a:t>ESP32-WROOM-32 dev board</a:t>
            </a:r>
          </a:p>
          <a:p>
            <a:pPr marL="201168" indent="-201168">
              <a:lnSpc>
                <a:spcPct val="110000"/>
              </a:lnSpc>
              <a:spcAft>
                <a:spcPts val="600"/>
              </a:spcAft>
              <a:buClr>
                <a:srgbClr val="EA580C"/>
              </a:buClr>
              <a:buFont typeface="Arial"/>
              <a:buChar char="•"/>
            </a:pPr>
            <a:r>
              <a:rPr sz="1300">
                <a:solidFill>
                  <a:srgbClr val="111827"/>
                </a:solidFill>
                <a:latin typeface="Calibri"/>
              </a:rPr>
              <a:t>DFPlayer Mini + speaker</a:t>
            </a:r>
          </a:p>
          <a:p>
            <a:pPr marL="201168" indent="-201168">
              <a:lnSpc>
                <a:spcPct val="110000"/>
              </a:lnSpc>
              <a:spcAft>
                <a:spcPts val="600"/>
              </a:spcAft>
              <a:buClr>
                <a:srgbClr val="EA580C"/>
              </a:buClr>
              <a:buFont typeface="Arial"/>
              <a:buChar char="•"/>
            </a:pPr>
            <a:r>
              <a:rPr sz="1300">
                <a:solidFill>
                  <a:srgbClr val="111827"/>
                </a:solidFill>
                <a:latin typeface="Calibri"/>
              </a:rPr>
              <a:t>ULN2803A Darlington driver</a:t>
            </a:r>
          </a:p>
          <a:p>
            <a:pPr marL="201168" indent="-201168">
              <a:lnSpc>
                <a:spcPct val="110000"/>
              </a:lnSpc>
              <a:spcAft>
                <a:spcPts val="600"/>
              </a:spcAft>
              <a:buClr>
                <a:srgbClr val="EA580C"/>
              </a:buClr>
              <a:buFont typeface="Arial"/>
              <a:buChar char="•"/>
            </a:pPr>
            <a:r>
              <a:rPr sz="1300">
                <a:solidFill>
                  <a:srgbClr val="111827"/>
                </a:solidFill>
                <a:latin typeface="Calibri"/>
              </a:rPr>
              <a:t>6 × coin vibration motors</a:t>
            </a:r>
          </a:p>
          <a:p>
            <a:pPr marL="201168" indent="-201168">
              <a:lnSpc>
                <a:spcPct val="110000"/>
              </a:lnSpc>
              <a:spcAft>
                <a:spcPts val="600"/>
              </a:spcAft>
              <a:buClr>
                <a:srgbClr val="EA580C"/>
              </a:buClr>
              <a:buFont typeface="Arial"/>
              <a:buChar char="•"/>
            </a:pPr>
            <a:r>
              <a:rPr sz="1300">
                <a:solidFill>
                  <a:srgbClr val="111827"/>
                </a:solidFill>
                <a:latin typeface="Calibri"/>
              </a:rPr>
              <a:t>6 dot buttons + 1 submit button</a:t>
            </a:r>
          </a:p>
          <a:p>
            <a:pPr marL="201168" indent="-201168">
              <a:lnSpc>
                <a:spcPct val="110000"/>
              </a:lnSpc>
              <a:spcAft>
                <a:spcPts val="600"/>
              </a:spcAft>
              <a:buClr>
                <a:srgbClr val="EA580C"/>
              </a:buClr>
              <a:buFont typeface="Arial"/>
              <a:buChar char="•"/>
            </a:pPr>
            <a:r>
              <a:rPr sz="1300">
                <a:solidFill>
                  <a:srgbClr val="111827"/>
                </a:solidFill>
                <a:latin typeface="Calibri"/>
              </a:rPr>
              <a:t>microSD module</a:t>
            </a:r>
          </a:p>
          <a:p>
            <a:pPr marL="201168" indent="-201168">
              <a:lnSpc>
                <a:spcPct val="110000"/>
              </a:lnSpc>
              <a:spcAft>
                <a:spcPts val="600"/>
              </a:spcAft>
              <a:buClr>
                <a:srgbClr val="EA580C"/>
              </a:buClr>
              <a:buFont typeface="Arial"/>
              <a:buChar char="•"/>
            </a:pPr>
            <a:r>
              <a:rPr sz="1300">
                <a:solidFill>
                  <a:srgbClr val="111827"/>
                </a:solidFill>
                <a:latin typeface="Calibri"/>
              </a:rPr>
              <a:t>5V / 2A power supply + 1000 µF cap</a:t>
            </a:r>
          </a:p>
          <a:p>
            <a:pPr marL="201168" indent="-201168">
              <a:lnSpc>
                <a:spcPct val="110000"/>
              </a:lnSpc>
              <a:spcAft>
                <a:spcPts val="600"/>
              </a:spcAft>
              <a:buClr>
                <a:srgbClr val="EA580C"/>
              </a:buClr>
              <a:buFont typeface="Arial"/>
              <a:buChar char="•"/>
            </a:pPr>
            <a:r>
              <a:rPr sz="1300">
                <a:solidFill>
                  <a:srgbClr val="111827"/>
                </a:solidFill>
                <a:latin typeface="Calibri"/>
              </a:rPr>
              <a:t>Resistors; optional DS3231 RTC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51960"/>
            <a:ext cx="5943600" cy="1920240"/>
          </a:xfrm>
          <a:prstGeom prst="roundRect">
            <a:avLst>
              <a:gd name="adj" fmla="val 4500"/>
            </a:avLst>
          </a:prstGeom>
          <a:solidFill>
            <a:srgbClr val="FE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370832"/>
            <a:ext cx="5541264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A580C"/>
                </a:solidFill>
                <a:latin typeface="Calibri"/>
              </a:rPr>
              <a:t>Three failure modes to avoid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709160"/>
            <a:ext cx="5541264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EA580C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No flyback protection destroys GPIO pins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EA580C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Under-powered supply reboots the board mid-session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EA580C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Wiring everything at once creates undebuggable multi-symptom failures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1417320"/>
            <a:ext cx="4876495" cy="2743200"/>
          </a:xfrm>
          <a:prstGeom prst="rect">
            <a:avLst/>
          </a:prstGeom>
          <a:solidFill>
            <a:srgbClr val="F8F9FA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6B7280"/>
                </a:solidFill>
                <a:latin typeface="Calibri"/>
              </a:rPr>
              <a:t>[ Insert hardware photo here ]</a:t>
            </a:r>
          </a:p>
        </p:txBody>
      </p:sp>
      <p:pic>
        <p:nvPicPr>
          <p:cNvPr id="17" name="Picture 16" descr="06_esp32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807" y="3977639"/>
            <a:ext cx="390144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75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13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C602F4CA-DD7B-CF49-91E1-C48A0A66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1B64B1C5-C192-DE4C-902D-771BC68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Cambria"/>
              </a:rPr>
              <a:t>3.5 CAD / Hardware Design — Bring-Up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6B7280"/>
                </a:solidFill>
                <a:latin typeface="Calibri"/>
              </a:rPr>
              <a:t>Peripherals are brought up one at a time — never flash the main sketch first.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057400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29968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t1_blink_serial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62432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96896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t2_buttons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19125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16382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t3_motors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758184"/>
            <a:ext cx="310896" cy="3108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3075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t3b_braille_patterns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3251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97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t4_dfplayer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892040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64608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t5_sd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874520"/>
            <a:ext cx="5608015" cy="3931920"/>
          </a:xfrm>
          <a:prstGeom prst="rect">
            <a:avLst/>
          </a:prstGeom>
          <a:solidFill>
            <a:srgbClr val="F8F9FA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6B7280"/>
                </a:solidFill>
                <a:latin typeface="Calibri"/>
              </a:rPr>
              <a:t>[ Insert hardware photo here ]</a:t>
            </a:r>
          </a:p>
        </p:txBody>
      </p:sp>
    </p:spTree>
    <p:extLst>
      <p:ext uri="{BB962C8B-B14F-4D97-AF65-F5344CB8AC3E}">
        <p14:creationId xmlns:p14="http://schemas.microsoft.com/office/powerpoint/2010/main" val="3511927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15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C602F4CA-DD7B-CF49-91E1-C48A0A66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1B64B1C5-C192-DE4C-902D-771BC68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Cambria"/>
              </a:rPr>
              <a:t>4. Implementation: Demonstration</a:t>
            </a:r>
          </a:p>
        </p:txBody>
      </p:sp>
      <p:pic>
        <p:nvPicPr>
          <p:cNvPr id="12" name="Picture 11" descr="web_app_profile_screen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81621"/>
            <a:ext cx="3840480" cy="34319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5623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Live web data-collection tool — deployed at eee-416.vercel.app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417320"/>
            <a:ext cx="5699455" cy="4480560"/>
          </a:xfrm>
          <a:prstGeom prst="rect">
            <a:avLst/>
          </a:prstGeom>
          <a:solidFill>
            <a:srgbClr val="F8F9FA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6B7280"/>
                </a:solidFill>
                <a:latin typeface="Calibri"/>
              </a:rPr>
              <a:t>[ Insert hardware photo here ]</a:t>
            </a:r>
          </a:p>
        </p:txBody>
      </p:sp>
    </p:spTree>
    <p:extLst>
      <p:ext uri="{BB962C8B-B14F-4D97-AF65-F5344CB8AC3E}">
        <p14:creationId xmlns:p14="http://schemas.microsoft.com/office/powerpoint/2010/main" val="1358462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16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C602F4CA-DD7B-CF49-91E1-C48A0A66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1B64B1C5-C192-DE4C-902D-771BC68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Cambria"/>
              </a:rPr>
              <a:t>4.1 Implementation: Photo Gallery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3515258" cy="4480560"/>
          </a:xfrm>
          <a:prstGeom prst="rect">
            <a:avLst/>
          </a:prstGeom>
          <a:solidFill>
            <a:srgbClr val="F8F9FA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i="1">
                <a:solidFill>
                  <a:srgbClr val="6B7280"/>
                </a:solidFill>
                <a:latin typeface="Calibri"/>
              </a:rPr>
              <a:t>[ Insert hardware photo here — angle 1 ]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1417320"/>
            <a:ext cx="3515258" cy="4480560"/>
          </a:xfrm>
          <a:prstGeom prst="rect">
            <a:avLst/>
          </a:prstGeom>
          <a:solidFill>
            <a:srgbClr val="F8F9FA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i="1">
                <a:solidFill>
                  <a:srgbClr val="6B7280"/>
                </a:solidFill>
                <a:latin typeface="Calibri"/>
              </a:rPr>
              <a:t>[ Insert hardware photo here — angle 2 ]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3516" y="1417320"/>
            <a:ext cx="3515258" cy="4480560"/>
          </a:xfrm>
          <a:prstGeom prst="rect">
            <a:avLst/>
          </a:prstGeom>
          <a:solidFill>
            <a:srgbClr val="F8F9FA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i="1">
                <a:solidFill>
                  <a:srgbClr val="6B7280"/>
                </a:solidFill>
                <a:latin typeface="Calibri"/>
              </a:rPr>
              <a:t>[ Insert hardware photo here — in use ]</a:t>
            </a:r>
          </a:p>
        </p:txBody>
      </p:sp>
    </p:spTree>
    <p:extLst>
      <p:ext uri="{BB962C8B-B14F-4D97-AF65-F5344CB8AC3E}">
        <p14:creationId xmlns:p14="http://schemas.microsoft.com/office/powerpoint/2010/main" val="681849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17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C602F4CA-DD7B-CF49-91E1-C48A0A66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1B64B1C5-C192-DE4C-902D-771BC68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2296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mbria"/>
              </a:rPr>
              <a:t>5. Design Analysis and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148840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2E8F0"/>
                </a:solidFill>
                <a:latin typeface="Calibri"/>
              </a:rPr>
              <a:t>5.1 Novelty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60904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2E8F0"/>
                </a:solidFill>
                <a:latin typeface="Calibri"/>
              </a:rPr>
              <a:t>5.2 Design Considerations (PO(c))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7296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2E8F0"/>
                </a:solidFill>
                <a:latin typeface="Calibri"/>
              </a:rPr>
              <a:t>5.3 Investigations (PO(d))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85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2E8F0"/>
                </a:solidFill>
                <a:latin typeface="Calibri"/>
              </a:rPr>
              <a:t>5.4 Limitations of Tools (PO(e))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19709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2E8F0"/>
                </a:solidFill>
                <a:latin typeface="Calibri"/>
              </a:rPr>
              <a:t>5.5 Impact Assessment (PO(f))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709160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2E8F0"/>
                </a:solidFill>
                <a:latin typeface="Calibri"/>
              </a:rPr>
              <a:t>5.6 Sustainability and Environmental Impact Evaluation (PO(g))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221224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2E8F0"/>
                </a:solidFill>
                <a:latin typeface="Calibri"/>
              </a:rPr>
              <a:t>5.7 Ethical Issues (PO(h))</a:t>
            </a:r>
          </a:p>
        </p:txBody>
      </p:sp>
    </p:spTree>
    <p:extLst>
      <p:ext uri="{BB962C8B-B14F-4D97-AF65-F5344CB8AC3E}">
        <p14:creationId xmlns:p14="http://schemas.microsoft.com/office/powerpoint/2010/main" val="4287483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18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800" b="1">
                <a:solidFill>
                  <a:srgbClr val="111827"/>
                </a:solidFill>
                <a:latin typeface="Cambria"/>
              </a:rPr>
              <a:t>5.1 Novelty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111827"/>
                </a:solidFill>
                <a:latin typeface="Calibri"/>
              </a:rPr>
              <a:t>The on-device adaptive teaching decision — not just haptic playback like prior Braille kits. A rule-based teaching policy is compressed into a 1,734-parameter network that runs in ~0.1 ms with no cloud, applied specifically to Bangla Braille (11 vowels + 39 consonants + combining marks, per BNBC).</a:t>
            </a:r>
          </a:p>
        </p:txBody>
      </p:sp>
      <p:pic>
        <p:nvPicPr>
          <p:cNvPr id="9" name="Picture 8" descr="15_teaching_action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30327"/>
            <a:ext cx="5653735" cy="318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5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19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Cambria"/>
              </a:rPr>
              <a:t>5.2 Design Considerations (PO(c))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515258" cy="4297680"/>
          </a:xfrm>
          <a:prstGeom prst="roundRect">
            <a:avLst>
              <a:gd name="adj" fmla="val 45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64792"/>
            <a:ext cx="314949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59669"/>
                </a:solidFill>
                <a:latin typeface="Calibri"/>
              </a:rPr>
              <a:t>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149498" cy="3429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059669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5V DC low-voltage design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059669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Zero RF during teaching mode — no WiFi/BT active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059669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Gentle, calibrated haptic motors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600200"/>
            <a:ext cx="3515258" cy="4297680"/>
          </a:xfrm>
          <a:prstGeom prst="roundRect">
            <a:avLst>
              <a:gd name="adj" fmla="val 4500"/>
            </a:avLst>
          </a:prstGeom>
          <a:solidFill>
            <a:srgbClr val="F5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1098" y="1764792"/>
            <a:ext cx="314949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C3AED"/>
                </a:solidFill>
                <a:latin typeface="Calibri"/>
              </a:rPr>
              <a:t>Cultural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286000"/>
            <a:ext cx="3149498" cy="3429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7C3AED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All 50 BNBC characters supported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7C3AED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Native Bangla audio prompts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1600200"/>
            <a:ext cx="3515258" cy="4297680"/>
          </a:xfrm>
          <a:prstGeom prst="roundRect">
            <a:avLst>
              <a:gd name="adj" fmla="val 4500"/>
            </a:avLst>
          </a:prstGeom>
          <a:solidFill>
            <a:srgbClr val="F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1764792"/>
            <a:ext cx="314949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B2777"/>
                </a:solidFill>
                <a:latin typeface="Calibri"/>
              </a:rPr>
              <a:t>Societal / Accessibility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286000"/>
            <a:ext cx="3149498" cy="3429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DB2777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Affordable alternative to imported refreshable Braille displays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DB2777"/>
              </a:buClr>
              <a:buFont typeface="Arial"/>
              <a:buChar char="•"/>
            </a:pPr>
            <a:r>
              <a:rPr sz="1250">
                <a:solidFill>
                  <a:srgbClr val="111827"/>
                </a:solidFill>
                <a:latin typeface="Calibri"/>
              </a:rPr>
              <a:t>Self-paced learning</a:t>
            </a:r>
          </a:p>
        </p:txBody>
      </p:sp>
    </p:spTree>
    <p:extLst>
      <p:ext uri="{BB962C8B-B14F-4D97-AF65-F5344CB8AC3E}">
        <p14:creationId xmlns:p14="http://schemas.microsoft.com/office/powerpoint/2010/main" val="3115159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20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Cambria"/>
              </a:rPr>
              <a:t>5.3 Investigations (PO(d))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1185855" cy="1417320"/>
          </a:xfrm>
          <a:prstGeom prst="roundRect">
            <a:avLst>
              <a:gd name="adj" fmla="val 4500"/>
            </a:avLst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(a) Braille pattern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11827"/>
                </a:solidFill>
                <a:latin typeface="Calibri"/>
              </a:rPr>
              <a:t>Reference-image projection-profile band detection. A bug was found where naive uniform-sixths sampling gave only a 7-grey-level confidence margin instead of the full 127 — fixed by real row/column band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7520"/>
            <a:ext cx="11185855" cy="1417320"/>
          </a:xfrm>
          <a:prstGeom prst="roundRect">
            <a:avLst>
              <a:gd name="adj" fmla="val 45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2724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D9488"/>
                </a:solidFill>
                <a:latin typeface="Calibri"/>
              </a:rPr>
              <a:t>(b) Rule-engine parity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11827"/>
                </a:solidFill>
                <a:latin typeface="Calibri"/>
              </a:rPr>
              <a:t>2,000 feature vectors were pushed through the JS / C / Python implementations, asserting identical output on both labels and every normalized feature, including values sitting exactly on decision thresholds.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17720"/>
            <a:ext cx="11185855" cy="1417320"/>
          </a:xfrm>
          <a:prstGeom prst="roundRect">
            <a:avLst>
              <a:gd name="adj" fmla="val 4500"/>
            </a:avLst>
          </a:prstGeom>
          <a:solidFill>
            <a:srgbClr val="F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2744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B2777"/>
                </a:solidFill>
                <a:latin typeface="Calibri"/>
              </a:rPr>
              <a:t>(c) ঋ / র dot-pattern collision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11827"/>
                </a:solidFill>
                <a:latin typeface="Calibri"/>
              </a:rPr>
              <a:t>ঋ (ri) and র (ra) share dot pattern [1,2,3,5] genuinely, per the BNBC standard. Resolved by making ঋ a two-cell character with a disambiguating dot-5 prefix vibration.</a:t>
            </a:r>
          </a:p>
        </p:txBody>
      </p:sp>
    </p:spTree>
    <p:extLst>
      <p:ext uri="{BB962C8B-B14F-4D97-AF65-F5344CB8AC3E}">
        <p14:creationId xmlns:p14="http://schemas.microsoft.com/office/powerpoint/2010/main" val="1284346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21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Cambria"/>
              </a:rPr>
              <a:t>5.4 Limitations of Tools (PO(e))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691640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673352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Physical hardware not fully assembled — breadboard subset only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87752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69464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Audio is synthetic (espeak-ng), not human-recorded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483864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465576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No RTC yet: time_since_last_practice is a declared assumption across power-cycles (rows stamped rtc_present=0 for auditability)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379976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61688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Dataset skews toward 3 of 4 real participants (P04 has only 1 row)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276088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257800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Teaching-action class distribution depends on how sessions were collected, not a controlled trial</a:t>
            </a:r>
          </a:p>
        </p:txBody>
      </p:sp>
    </p:spTree>
    <p:extLst>
      <p:ext uri="{BB962C8B-B14F-4D97-AF65-F5344CB8AC3E}">
        <p14:creationId xmlns:p14="http://schemas.microsoft.com/office/powerpoint/2010/main" val="4216238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22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Cambria"/>
              </a:rPr>
              <a:t>5.5 Impact Assessment (PO(f))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515258" cy="4297680"/>
          </a:xfrm>
          <a:prstGeom prst="roundRect">
            <a:avLst>
              <a:gd name="adj" fmla="val 45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64792"/>
            <a:ext cx="314949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D9488"/>
                </a:solidFill>
                <a:latin typeface="Calibri"/>
              </a:rPr>
              <a:t>Societal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149498" cy="3429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0D9488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Accessibility for Bangla-speaking visually-impaired learners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0D9488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Self-paced learning without constant 1-on-1 supervision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600200"/>
            <a:ext cx="3515258" cy="4297680"/>
          </a:xfrm>
          <a:prstGeom prst="roundRect">
            <a:avLst>
              <a:gd name="adj" fmla="val 45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1098" y="1764792"/>
            <a:ext cx="314949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59669"/>
                </a:solidFill>
                <a:latin typeface="Calibri"/>
              </a:rPr>
              <a:t>Health /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286000"/>
            <a:ext cx="3149498" cy="3429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059669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Low voltage design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059669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Gentle haptics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059669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Zero RF exposure during teaching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1600200"/>
            <a:ext cx="3515258" cy="4297680"/>
          </a:xfrm>
          <a:prstGeom prst="roundRect">
            <a:avLst>
              <a:gd name="adj" fmla="val 4500"/>
            </a:avLst>
          </a:prstGeom>
          <a:solidFill>
            <a:srgbClr val="F5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1764792"/>
            <a:ext cx="314949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C3AED"/>
                </a:solidFill>
                <a:latin typeface="Calibri"/>
              </a:rPr>
              <a:t>Legal /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286000"/>
            <a:ext cx="3149498" cy="3429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7C3AED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The deployed teaching device runs fully offline, zero network connection</a:t>
            </a:r>
          </a:p>
          <a:p>
            <a:pPr marL="201168" indent="-201168">
              <a:lnSpc>
                <a:spcPct val="115000"/>
              </a:lnSpc>
              <a:spcAft>
                <a:spcPts val="800"/>
              </a:spcAft>
              <a:buClr>
                <a:srgbClr val="7C3AED"/>
              </a:buClr>
              <a:buFont typeface="Arial"/>
              <a:buChar char="•"/>
            </a:pPr>
            <a:r>
              <a:rPr sz="1200">
                <a:solidFill>
                  <a:srgbClr val="111827"/>
                </a:solidFill>
                <a:latin typeface="Calibri"/>
              </a:rPr>
              <a:t>The web data-collection tool (development only) syncs anonymized logs by participant code to a private RLS-protected database</a:t>
            </a:r>
          </a:p>
        </p:txBody>
      </p:sp>
    </p:spTree>
    <p:extLst>
      <p:ext uri="{BB962C8B-B14F-4D97-AF65-F5344CB8AC3E}">
        <p14:creationId xmlns:p14="http://schemas.microsoft.com/office/powerpoint/2010/main" val="1025246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23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500" b="1">
                <a:solidFill>
                  <a:srgbClr val="111827"/>
                </a:solidFill>
                <a:latin typeface="Cambria"/>
              </a:rPr>
              <a:t>5.6 Sustainability and Environmental Impact Evaluation (PO(g))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8288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10512"/>
            <a:ext cx="10746943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Paperless — replaces single-use embossed Braille paper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743200"/>
            <a:ext cx="10746943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Energy-efficient — no continuous WiFi/cloud calls in teaching mode; ~800 mA peak only while motors fire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694176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675888"/>
            <a:ext cx="10746943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Low-cost alternative reduces e-waste from expensive imported displays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626864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608576"/>
            <a:ext cx="10746943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Durable, solid-state components</a:t>
            </a:r>
          </a:p>
        </p:txBody>
      </p:sp>
    </p:spTree>
    <p:extLst>
      <p:ext uri="{BB962C8B-B14F-4D97-AF65-F5344CB8AC3E}">
        <p14:creationId xmlns:p14="http://schemas.microsoft.com/office/powerpoint/2010/main" val="1143555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24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Cambria"/>
              </a:rPr>
              <a:t>5.7 Ethical Issues (PO(h))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85855" cy="402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800"/>
              </a:spcAft>
              <a:buClr>
                <a:srgbClr val="7C3AED"/>
              </a:buClr>
              <a:buFont typeface="Arial"/>
              <a:buChar char="•"/>
            </a:pPr>
            <a:r>
              <a:rPr b="1" sz="1550">
                <a:solidFill>
                  <a:srgbClr val="111827"/>
                </a:solidFill>
                <a:latin typeface="Calibri"/>
              </a:rPr>
              <a:t>Honesty in claims: </a:t>
            </a:r>
            <a:r>
              <a:rPr sz="1550">
                <a:solidFill>
                  <a:srgbClr val="111827"/>
                </a:solidFill>
                <a:latin typeface="Calibri"/>
              </a:rPr>
              <a:t>this is explicitly not described as “autonomous AI discovering teaching strategy.” It imitates a rule engine — stating that plainly is itself the ethical practice.</a:t>
            </a:r>
          </a:p>
          <a:p>
            <a:pPr marL="201168" indent="-201168">
              <a:lnSpc>
                <a:spcPct val="125000"/>
              </a:lnSpc>
              <a:spcAft>
                <a:spcPts val="1800"/>
              </a:spcAft>
              <a:buClr>
                <a:srgbClr val="7C3AED"/>
              </a:buClr>
              <a:buFont typeface="Arial"/>
              <a:buChar char="•"/>
            </a:pPr>
            <a:r>
              <a:rPr b="1" sz="1550">
                <a:solidFill>
                  <a:srgbClr val="111827"/>
                </a:solidFill>
                <a:latin typeface="Calibri"/>
              </a:rPr>
              <a:t>Data minimization: </a:t>
            </a:r>
            <a:r>
              <a:rPr sz="1550">
                <a:solidFill>
                  <a:srgbClr val="111827"/>
                </a:solidFill>
                <a:latin typeface="Calibri"/>
              </a:rPr>
              <a:t>only a participant code is stored during data collection, never names.</a:t>
            </a:r>
          </a:p>
          <a:p>
            <a:pPr marL="201168" indent="-201168">
              <a:lnSpc>
                <a:spcPct val="125000"/>
              </a:lnSpc>
              <a:spcAft>
                <a:spcPts val="1800"/>
              </a:spcAft>
              <a:buClr>
                <a:srgbClr val="7C3AED"/>
              </a:buClr>
              <a:buFont typeface="Arial"/>
              <a:buChar char="•"/>
            </a:pPr>
            <a:r>
              <a:rPr b="1" sz="1550">
                <a:solidFill>
                  <a:srgbClr val="111827"/>
                </a:solidFill>
                <a:latin typeface="Calibri"/>
              </a:rPr>
              <a:t>Offline vs. online: </a:t>
            </a:r>
            <a:r>
              <a:rPr sz="1550">
                <a:solidFill>
                  <a:srgbClr val="111827"/>
                </a:solidFill>
                <a:latin typeface="Calibri"/>
              </a:rPr>
              <a:t>the deployed teaching device is fully offline; only the development-time web tool syncs anonymized logs.</a:t>
            </a:r>
          </a:p>
        </p:txBody>
      </p:sp>
    </p:spTree>
    <p:extLst>
      <p:ext uri="{BB962C8B-B14F-4D97-AF65-F5344CB8AC3E}">
        <p14:creationId xmlns:p14="http://schemas.microsoft.com/office/powerpoint/2010/main" val="3702626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25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mbria"/>
              </a:rPr>
              <a:t>6. Reflection on Individual and Team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9445752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94A3B8"/>
                </a:solidFill>
                <a:latin typeface="Calibri"/>
              </a:rPr>
              <a:t>Individual Contribution · Mode of Teamwork and Diversity · Project Logbook</a:t>
            </a:r>
          </a:p>
        </p:txBody>
      </p:sp>
    </p:spTree>
    <p:extLst>
      <p:ext uri="{BB962C8B-B14F-4D97-AF65-F5344CB8AC3E}">
        <p14:creationId xmlns:p14="http://schemas.microsoft.com/office/powerpoint/2010/main" val="1365090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26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Cambria"/>
              </a:rPr>
              <a:t>6.1 Individual Contribution of Each 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Approximate division of primary responsibility (exact hour-logs are not available)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85855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371600"/>
                <a:gridCol w="6979615"/>
              </a:tblGrid>
              <a:tr h="5029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Primary responsibility</a:t>
                      </a:r>
                    </a:p>
                  </a:txBody>
                  <a:tcPr marT="0" marB="0" anchor="ctr"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Santu Nag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2106055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Literature review; hardware BOM &amp; methodology writeup; initial objectives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Md. Adib Hasan Audhi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2106056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Web data-collection platform; progress documentation; breadboard bring-up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Mishat Hasan Milon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2106059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ML model design, training pipeline &amp; firmware inference; repo engineering; testing &amp; 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Khalid Mehebub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2106065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Design considerations (safety/cultural/societal/environmental); sustainability evaluation; cost analysis; project management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797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27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Cambria"/>
              </a:rPr>
              <a:t>6.2 Mode of TeamWork and Diversity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85855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600"/>
              </a:spcAft>
              <a:buClr>
                <a:srgbClr val="0D9488"/>
              </a:buClr>
              <a:buFont typeface="Arial"/>
              <a:buChar char="•"/>
            </a:pPr>
            <a:r>
              <a:rPr sz="1550">
                <a:solidFill>
                  <a:srgbClr val="111827"/>
                </a:solidFill>
                <a:latin typeface="Calibri"/>
              </a:rPr>
              <a:t>Cross-functional split across hardware, firmware, ML, and web development</a:t>
            </a:r>
          </a:p>
          <a:p>
            <a:pPr marL="201168" indent="-201168">
              <a:lnSpc>
                <a:spcPct val="120000"/>
              </a:lnSpc>
              <a:spcAft>
                <a:spcPts val="1600"/>
              </a:spcAft>
              <a:buClr>
                <a:srgbClr val="0D9488"/>
              </a:buClr>
              <a:buFont typeface="Arial"/>
              <a:buChar char="•"/>
            </a:pPr>
            <a:r>
              <a:rPr sz="1550">
                <a:solidFill>
                  <a:srgbClr val="111827"/>
                </a:solidFill>
                <a:latin typeface="Calibri"/>
              </a:rPr>
              <a:t>Regular sync check-ins across the team</a:t>
            </a:r>
          </a:p>
          <a:p>
            <a:pPr marL="201168" indent="-201168">
              <a:lnSpc>
                <a:spcPct val="120000"/>
              </a:lnSpc>
              <a:spcAft>
                <a:spcPts val="1600"/>
              </a:spcAft>
              <a:buClr>
                <a:srgbClr val="0D9488"/>
              </a:buClr>
              <a:buFont typeface="Arial"/>
              <a:buChar char="•"/>
            </a:pPr>
            <a:r>
              <a:rPr sz="1550">
                <a:solidFill>
                  <a:srgbClr val="111827"/>
                </a:solidFill>
                <a:latin typeface="Calibri"/>
              </a:rPr>
              <a:t>Shared GitHub repository as the single source of truth for all generated artifacts</a:t>
            </a:r>
          </a:p>
          <a:p>
            <a:pPr marL="201168" indent="-201168">
              <a:lnSpc>
                <a:spcPct val="120000"/>
              </a:lnSpc>
              <a:spcAft>
                <a:spcPts val="1600"/>
              </a:spcAft>
              <a:buClr>
                <a:srgbClr val="0D9488"/>
              </a:buClr>
              <a:buFont typeface="Arial"/>
              <a:buChar char="•"/>
            </a:pPr>
            <a:r>
              <a:rPr sz="1550">
                <a:solidFill>
                  <a:srgbClr val="111827"/>
                </a:solidFill>
                <a:latin typeface="Calibri"/>
              </a:rPr>
              <a:t>One spec file drives 3 rule engines (JS / C / Python), preventing browser/firmware divergence</a:t>
            </a:r>
          </a:p>
        </p:txBody>
      </p:sp>
    </p:spTree>
    <p:extLst>
      <p:ext uri="{BB962C8B-B14F-4D97-AF65-F5344CB8AC3E}">
        <p14:creationId xmlns:p14="http://schemas.microsoft.com/office/powerpoint/2010/main" val="3086108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28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Cambria"/>
              </a:rPr>
              <a:t>6.3 Logbook of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417320"/>
            <a:ext cx="7799831" cy="4480560"/>
          </a:xfrm>
          <a:prstGeom prst="rect">
            <a:avLst/>
          </a:prstGeom>
          <a:solidFill>
            <a:srgbClr val="F8F9FA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i="1">
                <a:solidFill>
                  <a:srgbClr val="6B7280"/>
                </a:solidFill>
                <a:latin typeface="Calibri"/>
              </a:rPr>
              <a:t>[ Insert logbook screenshot here ]</a:t>
            </a:r>
          </a:p>
        </p:txBody>
      </p:sp>
    </p:spTree>
    <p:extLst>
      <p:ext uri="{BB962C8B-B14F-4D97-AF65-F5344CB8AC3E}">
        <p14:creationId xmlns:p14="http://schemas.microsoft.com/office/powerpoint/2010/main" val="484443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9EA69-7441-F62C-7A1E-2B202B45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165D-FE70-97DE-3B1B-533E1CD1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pPr algn="ctr"/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A5771-CEAF-4EBF-41FF-6FB6B897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29</a:t>
            </a:fld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Cambria"/>
              </a:rPr>
              <a:t>7. Communication to External Stakeholders (PO(j))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1185855" cy="1188720"/>
          </a:xfrm>
          <a:prstGeom prst="roundRect">
            <a:avLst>
              <a:gd name="adj" fmla="val 4500"/>
            </a:avLst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827"/>
                </a:solidFill>
                <a:latin typeface="Consolas"/>
              </a:rPr>
              <a:t>https://github.com/Mishatmilon059/eee_416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29000"/>
            <a:ext cx="11185855" cy="2606040"/>
          </a:xfrm>
          <a:prstGeom prst="rect">
            <a:avLst/>
          </a:prstGeom>
          <a:solidFill>
            <a:srgbClr val="F8F9FA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i="1">
                <a:solidFill>
                  <a:srgbClr val="6B7280"/>
                </a:solidFill>
                <a:latin typeface="Calibri"/>
              </a:rPr>
              <a:t>[ Insert demo video link here ]</a:t>
            </a:r>
          </a:p>
        </p:txBody>
      </p:sp>
    </p:spTree>
    <p:extLst>
      <p:ext uri="{BB962C8B-B14F-4D97-AF65-F5344CB8AC3E}">
        <p14:creationId xmlns:p14="http://schemas.microsoft.com/office/powerpoint/2010/main" val="306442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9EA69-7441-F62C-7A1E-2B202B45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165D-FE70-97DE-3B1B-533E1CD1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pPr algn="ctr"/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A5771-CEAF-4EBF-41FF-6FB6B897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30</a:t>
            </a:fld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2700" b="1">
                <a:solidFill>
                  <a:srgbClr val="111827"/>
                </a:solidFill>
                <a:latin typeface="Cambria"/>
              </a:rPr>
              <a:t>8. Project Management and Cost Analysis (PO(k))</a:t>
            </a:r>
          </a:p>
        </p:txBody>
      </p:sp>
      <p:pic>
        <p:nvPicPr>
          <p:cNvPr id="8" name="Picture 7" descr="14_bom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168" y="1417320"/>
            <a:ext cx="7071358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53212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6B7280"/>
                </a:solidFill>
                <a:latin typeface="Calibri"/>
              </a:rPr>
              <a:t>Rough estimate, not a quote — per-unit cost at production scale would drop meaningfully by sourcing the bare ESP32-WROOM-32 module instead of a dev-kit board and bulk-pricing the motors/buttons.</a:t>
            </a:r>
          </a:p>
        </p:txBody>
      </p:sp>
    </p:spTree>
    <p:extLst>
      <p:ext uri="{BB962C8B-B14F-4D97-AF65-F5344CB8AC3E}">
        <p14:creationId xmlns:p14="http://schemas.microsoft.com/office/powerpoint/2010/main" val="2445718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4CD65-F7E3-85C7-2513-9C679DCD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CAC9D-B70F-FADA-470F-B9649BA2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pPr algn="ctr"/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81B2-77D4-F78C-BC42-5C78C11F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31</a:t>
            </a:fld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Cambria"/>
              </a:rPr>
              <a:t>9. Future Work (PO(l))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69164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673352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Complete full hardware assembly — wire all 6 motors + DFPlayer together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87752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69464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Re-record audio with a human voice (drop-in replacement, same track numbering)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48386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465576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Build the teacher-facing mobile app (web teacher panel already exists)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379976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61688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Add a DS3231 RTC (~$1) to remove the time-since-last-practice assumption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27608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257800"/>
            <a:ext cx="10746943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Continue collecting real data to broaden the participant pool beyond the current 4</a:t>
            </a:r>
          </a:p>
        </p:txBody>
      </p:sp>
    </p:spTree>
    <p:extLst>
      <p:ext uri="{BB962C8B-B14F-4D97-AF65-F5344CB8AC3E}">
        <p14:creationId xmlns:p14="http://schemas.microsoft.com/office/powerpoint/2010/main" val="3674043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25CA0-776A-F245-A1EB-5693AB3E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6473952"/>
            <a:ext cx="5760720" cy="384048"/>
          </a:xfrm>
        </p:spPr>
        <p:txBody>
          <a:bodyPr/>
          <a:lstStyle/>
          <a:p>
            <a:r>
              <a:rPr b="1" sz="1250">
                <a:solidFill>
                  <a:srgbClr val="FFFFFF"/>
                </a:solidFill>
                <a:latin typeface="Arial"/>
              </a:rPr>
              <a:t>EEE 416 (2026) – Final Project Group 08, Section A2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3A405-BAC8-CE44-AF2C-14F06899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32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79CCC-2513-EADF-D5E3-66E952D3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63640" y="6473952"/>
            <a:ext cx="4892040" cy="384048"/>
          </a:xfrm>
        </p:spPr>
        <p:txBody>
          <a:bodyPr/>
          <a:lstStyle/>
          <a:p>
            <a:pPr algn="ctr"/>
            <a:r>
              <a:rPr b="1" sz="1250">
                <a:solidFill>
                  <a:srgbClr val="FFFFFF"/>
                </a:solidFill>
                <a:latin typeface="Arial"/>
              </a:rPr>
              <a:t>AI Driven Bangla Braille Learning Device</a:t>
            </a:r>
            <a:endParaRPr lang="en-BD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800" b="1">
                <a:solidFill>
                  <a:srgbClr val="111827"/>
                </a:solidFill>
                <a:latin typeface="Cambria"/>
              </a:rPr>
              <a:t>10.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buNone/>
            </a:pPr>
            <a:r>
              <a:rPr sz="1250">
                <a:solidFill>
                  <a:srgbClr val="111827"/>
                </a:solidFill>
                <a:latin typeface="Calibri"/>
              </a:rPr>
              <a:t>[1]  Kader, M. A. et al. (2018). “Developing A Self-Learning Braille Kit for Visually Impaired People.”</a:t>
            </a:r>
          </a:p>
          <a:p>
            <a:pPr>
              <a:lnSpc>
                <a:spcPct val="112000"/>
              </a:lnSpc>
              <a:spcAft>
                <a:spcPts val="800"/>
              </a:spcAft>
              <a:buNone/>
            </a:pPr>
            <a:r>
              <a:rPr sz="1250">
                <a:solidFill>
                  <a:srgbClr val="111827"/>
                </a:solidFill>
                <a:latin typeface="Calibri"/>
              </a:rPr>
              <a:t>[2]  Saikot, M. &amp; Sanim, K. R. R. (2022). “Refreshable Braille Display With Adjustable Cell Size for Learners With Different Tactile Sensitivity.”</a:t>
            </a:r>
          </a:p>
          <a:p>
            <a:pPr>
              <a:lnSpc>
                <a:spcPct val="112000"/>
              </a:lnSpc>
              <a:spcAft>
                <a:spcPts val="800"/>
              </a:spcAft>
              <a:buNone/>
            </a:pPr>
            <a:r>
              <a:rPr sz="1250">
                <a:solidFill>
                  <a:srgbClr val="111827"/>
                </a:solidFill>
                <a:latin typeface="Calibri"/>
              </a:rPr>
              <a:t>[3]  Ma, X., Lai, C., &amp; Luo, Y. (2025). “BrailleRhythm: Enhancing Braille Character Recognition and Learning via Real-time Tactile Sensing and Audio Feedback.”</a:t>
            </a:r>
          </a:p>
          <a:p>
            <a:pPr>
              <a:lnSpc>
                <a:spcPct val="112000"/>
              </a:lnSpc>
              <a:spcAft>
                <a:spcPts val="800"/>
              </a:spcAft>
              <a:buNone/>
            </a:pPr>
            <a:r>
              <a:rPr sz="1250">
                <a:solidFill>
                  <a:srgbClr val="111827"/>
                </a:solidFill>
                <a:latin typeface="Calibri"/>
              </a:rPr>
              <a:t>[4]  Bangladesh National Braille Code (BNBC) standard — cross-referenced against Wikipedia's Bengali Braille table.</a:t>
            </a:r>
          </a:p>
          <a:p>
            <a:pPr>
              <a:lnSpc>
                <a:spcPct val="112000"/>
              </a:lnSpc>
              <a:spcAft>
                <a:spcPts val="800"/>
              </a:spcAft>
              <a:buNone/>
            </a:pPr>
            <a:r>
              <a:rPr sz="1250">
                <a:solidFill>
                  <a:srgbClr val="111827"/>
                </a:solidFill>
                <a:latin typeface="Calibri"/>
              </a:rPr>
              <a:t>[5]  ESP32-WROOM-32 datasheet (Espressif Systems).</a:t>
            </a:r>
          </a:p>
          <a:p>
            <a:pPr>
              <a:lnSpc>
                <a:spcPct val="112000"/>
              </a:lnSpc>
              <a:spcAft>
                <a:spcPts val="800"/>
              </a:spcAft>
              <a:buNone/>
            </a:pPr>
            <a:r>
              <a:rPr sz="1250">
                <a:solidFill>
                  <a:srgbClr val="111827"/>
                </a:solidFill>
                <a:latin typeface="Calibri"/>
              </a:rPr>
              <a:t>[6]  DFPlayer Mini datasheet (DFRobot).</a:t>
            </a:r>
          </a:p>
          <a:p>
            <a:pPr>
              <a:lnSpc>
                <a:spcPct val="112000"/>
              </a:lnSpc>
              <a:spcAft>
                <a:spcPts val="800"/>
              </a:spcAft>
              <a:buNone/>
            </a:pPr>
            <a:r>
              <a:rPr sz="1250">
                <a:solidFill>
                  <a:srgbClr val="111827"/>
                </a:solidFill>
                <a:latin typeface="Calibri"/>
              </a:rPr>
              <a:t>[7]  ULN2803A datasheet (Texas Instruments).</a:t>
            </a:r>
          </a:p>
          <a:p>
            <a:pPr>
              <a:lnSpc>
                <a:spcPct val="112000"/>
              </a:lnSpc>
              <a:spcAft>
                <a:spcPts val="800"/>
              </a:spcAft>
              <a:buNone/>
            </a:pPr>
            <a:r>
              <a:rPr sz="1250">
                <a:solidFill>
                  <a:srgbClr val="111827"/>
                </a:solidFill>
                <a:latin typeface="Calibri"/>
              </a:rPr>
              <a:t>[8]  Project GitHub repository (self-citation): https://github.com/Mishatmilon059/eee_416</a:t>
            </a:r>
          </a:p>
        </p:txBody>
      </p:sp>
    </p:spTree>
    <p:extLst>
      <p:ext uri="{BB962C8B-B14F-4D97-AF65-F5344CB8AC3E}">
        <p14:creationId xmlns:p14="http://schemas.microsoft.com/office/powerpoint/2010/main" val="3005554769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{05D23346-88B9-1E48-85E6-2D29E7791F05}tf10001067</Template>
  <TotalTime>160</TotalTime>
  <Words>2934</Words>
  <Application>Microsoft Office PowerPoint</Application>
  <PresentationFormat>Widescreen</PresentationFormat>
  <Paragraphs>275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Black</vt:lpstr>
      <vt:lpstr>Arial Narrow</vt:lpstr>
      <vt:lpstr>Calibri</vt:lpstr>
      <vt:lpstr>Century Gothic</vt:lpstr>
      <vt:lpstr>Garamond</vt:lpstr>
      <vt:lpstr>Times New Roman</vt:lpstr>
      <vt:lpstr>Savon</vt:lpstr>
      <vt:lpstr>Title of Project</vt:lpstr>
      <vt:lpstr>Outline</vt:lpstr>
      <vt:lpstr>1. Summary / Abstract</vt:lpstr>
      <vt:lpstr>2. Introduction</vt:lpstr>
      <vt:lpstr>3.1 Design: Problem Formulation (PO(b))</vt:lpstr>
      <vt:lpstr>3.1 Design: Problem Formulation (PO(b))</vt:lpstr>
      <vt:lpstr>3.1 Design: Problem Formulation (PO(b))</vt:lpstr>
      <vt:lpstr>3.1 Design: Problem Formulation (PO(b))</vt:lpstr>
      <vt:lpstr>3.2 Design Methods (PO(a))</vt:lpstr>
      <vt:lpstr>3.3 Design: Circuit Diagram</vt:lpstr>
      <vt:lpstr>3.4 Design: Simulation</vt:lpstr>
      <vt:lpstr>3.5 CAD/Hardware Design</vt:lpstr>
      <vt:lpstr>3.5 CAD/Hardware Design</vt:lpstr>
      <vt:lpstr>3.6 Design: PCB Layout and 3d rendering</vt:lpstr>
      <vt:lpstr>4 Implementation: Demonstration</vt:lpstr>
      <vt:lpstr>4.1 Implementation: Photo Gallary</vt:lpstr>
      <vt:lpstr>5. Design Analysis and Evaluation</vt:lpstr>
      <vt:lpstr>5.1 Novelty</vt:lpstr>
      <vt:lpstr>5.2 Design Considerations (PO(c))</vt:lpstr>
      <vt:lpstr>5.3 Investigations (PO(d))</vt:lpstr>
      <vt:lpstr>5.4 Limitations of Tools (PO(e))</vt:lpstr>
      <vt:lpstr>5.5 Impact Assessment (PO(f))</vt:lpstr>
      <vt:lpstr>5.6 Sustainability Evaluation (PO(g))</vt:lpstr>
      <vt:lpstr>5.7 Sustainability Evaluation (PO(g))</vt:lpstr>
      <vt:lpstr>6. Reflection on Individual and Team work </vt:lpstr>
      <vt:lpstr>6.1 Individual Contribution of Each Member</vt:lpstr>
      <vt:lpstr>6.2 Mode of TeamWork and Diversity</vt:lpstr>
      <vt:lpstr>6.3 Logbook of Project</vt:lpstr>
      <vt:lpstr>7 Communication to External Stakeholders (PO(j))</vt:lpstr>
      <vt:lpstr>8. Project Management and Cost Analysis (PO(k))</vt:lpstr>
      <vt:lpstr>9. Future Work (PO(l))</vt:lpstr>
      <vt:lpstr>10.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Sajid Muhaimin Choudhury</dc:creator>
  <cp:lastModifiedBy>Dr. Sajid Muhaimin Choudhury</cp:lastModifiedBy>
  <cp:revision>35</cp:revision>
  <cp:lastPrinted>2023-06-08T10:53:35Z</cp:lastPrinted>
  <dcterms:created xsi:type="dcterms:W3CDTF">2021-07-11T09:27:00Z</dcterms:created>
  <dcterms:modified xsi:type="dcterms:W3CDTF">2023-06-12T14:15:58Z</dcterms:modified>
</cp:coreProperties>
</file>